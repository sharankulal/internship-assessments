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5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86200" y="0"/>
            <a:ext cx="228600" cy="6858000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97680" y="457200"/>
            <a:ext cx="2560320" cy="347472"/>
          </a:xfrm>
          <a:prstGeom prst="roundRect">
            <a:avLst>
              <a:gd name="adj" fmla="val 30000"/>
            </a:avLst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STRATEGY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005840"/>
            <a:ext cx="749807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2E"/>
                </a:solidFill>
                <a:latin typeface="Calibri"/>
              </a:rPr>
              <a:t>Data Quality Assessment
Strategy for
EdTech Platforms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3429000"/>
            <a:ext cx="4572000" cy="36576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3566160"/>
            <a:ext cx="7406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878A"/>
                </a:solidFill>
                <a:latin typeface="Calibri"/>
              </a:rPr>
              <a:t>Transforming Learning Outcomes Through
Data-Driven Excellence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4526280"/>
            <a:ext cx="2331720" cy="1691640"/>
          </a:xfrm>
          <a:prstGeom prst="roundRect">
            <a:avLst>
              <a:gd name="adj" fmla="val 30000"/>
            </a:avLst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4617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509C"/>
                </a:solidFill>
                <a:latin typeface="Calibri"/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5074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09C"/>
                </a:solidFill>
                <a:latin typeface="Calibri"/>
              </a:rPr>
              <a:t>Assess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534924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  <a:latin typeface="Calibri"/>
              </a:rPr>
              <a:t>Evaluate current
data quality posture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12280" y="4526280"/>
            <a:ext cx="2331720" cy="1691640"/>
          </a:xfrm>
          <a:prstGeom prst="roundRect">
            <a:avLst>
              <a:gd name="adj" fmla="val 30000"/>
            </a:avLst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4617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509C"/>
                </a:solidFill>
                <a:latin typeface="Calibri"/>
              </a:rP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5074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09C"/>
                </a:solidFill>
                <a:latin typeface="Calibri"/>
              </a:rPr>
              <a:t>Govern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534924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  <a:latin typeface="Calibri"/>
              </a:rPr>
              <a:t>Establish a structured
data governance 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4526280"/>
            <a:ext cx="2331720" cy="1691640"/>
          </a:xfrm>
          <a:prstGeom prst="roundRect">
            <a:avLst>
              <a:gd name="adj" fmla="val 30000"/>
            </a:avLst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4040" y="4617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A509C"/>
                </a:solidFill>
                <a:latin typeface="Calibri"/>
              </a:rPr>
              <a:t>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5074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09C"/>
                </a:solidFill>
                <a:latin typeface="Calibri"/>
              </a:rPr>
              <a:t>Grow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534924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A"/>
                </a:solidFill>
                <a:latin typeface="Calibri"/>
              </a:rPr>
              <a:t>Enable data-driven
strategic decisions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6400800"/>
            <a:ext cx="7818120" cy="384048"/>
          </a:xfrm>
          <a:prstGeom prst="rect">
            <a:avLst/>
          </a:prstGeom>
          <a:solidFill>
            <a:srgbClr val="E8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6428232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0878A"/>
                </a:solidFill>
                <a:latin typeface="Calibri"/>
              </a:rPr>
              <a:t>💡  Takeaway: Data quality directly impacts learning insights, operational efficiency, and business decisions.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10058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FF"/>
                </a:solidFill>
                <a:latin typeface="Calibri"/>
              </a:rPr>
              <a:t>Prepared by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13258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Business Strategy
Consulting Division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965960"/>
            <a:ext cx="2286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20574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  <a:latin typeface="Calibri"/>
              </a:rPr>
              <a:t>March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51052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ABBDD"/>
                </a:solidFill>
                <a:latin typeface="Calibri"/>
              </a:rPr>
              <a:t>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12880" y="65836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  <a:latin typeface="Calibri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5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SLIDE 02  |  BUSINESS PROBLEM &amp; MARKET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509C"/>
                </a:solidFill>
                <a:latin typeface="Calibri"/>
              </a:rPr>
              <a:t>Why Data Quality Matters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657A"/>
                </a:solidFill>
                <a:latin typeface="Calibri"/>
              </a:rPr>
              <a:t>EdTech platforms are growing fast — but data fragmentation is holding them back.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17904"/>
            <a:ext cx="5029200" cy="36576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645920"/>
            <a:ext cx="5943600" cy="1417320"/>
          </a:xfrm>
          <a:prstGeom prst="roundRect">
            <a:avLst>
              <a:gd name="adj" fmla="val 30000"/>
            </a:avLst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645920"/>
            <a:ext cx="73152" cy="1417320"/>
          </a:xfrm>
          <a:prstGeom prst="rect">
            <a:avLst/>
          </a:prstGeom>
          <a:solidFill>
            <a:srgbClr val="1A5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1907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509C"/>
                </a:solidFill>
                <a:latin typeface="Calibri"/>
              </a:rPr>
              <a:t>📈  Explosive Market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84832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000">
                <a:solidFill>
                  <a:srgbClr val="55657A"/>
                </a:solidFill>
                <a:latin typeface="Calibri"/>
              </a:rPr>
              <a:t>→  Global EdTech market projected at $400B+ by 2028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000">
                <a:solidFill>
                  <a:srgbClr val="55657A"/>
                </a:solidFill>
                <a:latin typeface="Calibri"/>
              </a:rPr>
              <a:t>→  Rapid data volume growth outpaces governance maturity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000">
                <a:solidFill>
                  <a:srgbClr val="55657A"/>
                </a:solidFill>
                <a:latin typeface="Calibri"/>
              </a:rPr>
              <a:t>→  Quality gaps compound at scale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00400"/>
            <a:ext cx="5943600" cy="1417320"/>
          </a:xfrm>
          <a:prstGeom prst="roundRect">
            <a:avLst>
              <a:gd name="adj" fmla="val 30000"/>
            </a:avLst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200400"/>
            <a:ext cx="73152" cy="1417320"/>
          </a:xfrm>
          <a:prstGeom prst="rect">
            <a:avLst/>
          </a:prstGeom>
          <a:solidFill>
            <a:srgbClr val="1A5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7355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509C"/>
                </a:solidFill>
                <a:latin typeface="Calibri"/>
              </a:rPr>
              <a:t>🗂️  Data Fragmentation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39312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000">
                <a:solidFill>
                  <a:srgbClr val="55657A"/>
                </a:solidFill>
                <a:latin typeface="Calibri"/>
              </a:rPr>
              <a:t>→  Siloed systems: LMS, assessments, CRM, billing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000">
                <a:solidFill>
                  <a:srgbClr val="55657A"/>
                </a:solidFill>
                <a:latin typeface="Calibri"/>
              </a:rPr>
              <a:t>→  No single source of truth for learner journeys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000">
                <a:solidFill>
                  <a:srgbClr val="55657A"/>
                </a:solidFill>
                <a:latin typeface="Calibri"/>
              </a:rPr>
              <a:t>→  Inconsistent schema and field definitions across tools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754880"/>
            <a:ext cx="5943600" cy="1417320"/>
          </a:xfrm>
          <a:prstGeom prst="roundRect">
            <a:avLst>
              <a:gd name="adj" fmla="val 30000"/>
            </a:avLst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754880"/>
            <a:ext cx="73152" cy="1417320"/>
          </a:xfrm>
          <a:prstGeom prst="rect">
            <a:avLst/>
          </a:prstGeom>
          <a:solidFill>
            <a:srgbClr val="1A5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82803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509C"/>
                </a:solidFill>
                <a:latin typeface="Calibri"/>
              </a:rPr>
              <a:t>⚠️  Impact of Poor 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193792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000">
                <a:solidFill>
                  <a:srgbClr val="55657A"/>
                </a:solidFill>
                <a:latin typeface="Calibri"/>
              </a:rPr>
              <a:t>→  Misleading analytics misguide curriculum decisions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000">
                <a:solidFill>
                  <a:srgbClr val="55657A"/>
                </a:solidFill>
                <a:latin typeface="Calibri"/>
              </a:rPr>
              <a:t>→  Duplicate learner records distort engagement metrics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000">
                <a:solidFill>
                  <a:srgbClr val="55657A"/>
                </a:solidFill>
                <a:latin typeface="Calibri"/>
              </a:rPr>
              <a:t>→  Delayed data updates create stale dashboards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645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09C"/>
                </a:solidFill>
                <a:latin typeface="Calibri"/>
              </a:rPr>
              <a:t>Industry Signals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2029968"/>
            <a:ext cx="512064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75120" y="2176272"/>
            <a:ext cx="5120640" cy="1325880"/>
          </a:xfrm>
          <a:prstGeom prst="roundRect">
            <a:avLst>
              <a:gd name="adj" fmla="val 30000"/>
            </a:avLst>
          </a:prstGeom>
          <a:solidFill>
            <a:srgbClr val="E8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2267712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878A"/>
                </a:solidFill>
                <a:latin typeface="Calibri"/>
              </a:rPr>
              <a:t>73%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3774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of EdTech companies
cite data silos as a
top analytics barrier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3639312"/>
            <a:ext cx="5120640" cy="1325880"/>
          </a:xfrm>
          <a:prstGeom prst="roundRect">
            <a:avLst>
              <a:gd name="adj" fmla="val 30000"/>
            </a:avLst>
          </a:prstGeom>
          <a:solidFill>
            <a:srgbClr val="E8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3730752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878A"/>
                </a:solidFill>
                <a:latin typeface="Calibri"/>
              </a:rPr>
              <a:t>60%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8404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reporting errors traced
to duplicate or stale
learner records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5102352"/>
            <a:ext cx="5120640" cy="1325880"/>
          </a:xfrm>
          <a:prstGeom prst="roundRect">
            <a:avLst>
              <a:gd name="adj" fmla="val 30000"/>
            </a:avLst>
          </a:prstGeom>
          <a:solidFill>
            <a:srgbClr val="E8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5193792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878A"/>
                </a:solidFill>
                <a:latin typeface="Calibri"/>
              </a:rPr>
              <a:t>3x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53035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faster decisions
in data-mature
EdTech firms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6400800"/>
            <a:ext cx="11475720" cy="365760"/>
          </a:xfrm>
          <a:prstGeom prst="rect">
            <a:avLst/>
          </a:prstGeom>
          <a:solidFill>
            <a:srgbClr val="E8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4282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0878A"/>
                </a:solidFill>
                <a:latin typeface="Calibri"/>
              </a:rPr>
              <a:t>💡  Takeaway: Poor data quality leads to inaccurate learning insights and operational inefficiencies.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12880" y="65836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  <a:latin typeface="Calibri"/>
              </a:rPr>
              <a:t>2 /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66019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  <a:latin typeface="Calibri"/>
              </a:rPr>
              <a:t>EdTech DQA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5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SLIDE 03  |  DATA QUALITY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509C"/>
                </a:solidFill>
                <a:latin typeface="Calibri"/>
              </a:rPr>
              <a:t>Proposed Data Quality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657A"/>
                </a:solidFill>
                <a:latin typeface="Calibri"/>
              </a:rPr>
              <a:t>A governance-led, business-aligned approach to data reliability.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17904"/>
            <a:ext cx="4572000" cy="36576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2606040" cy="2011680"/>
          </a:xfrm>
          <a:prstGeom prst="roundRect">
            <a:avLst>
              <a:gd name="adj" fmla="val 30000"/>
            </a:avLst>
          </a:prstGeom>
          <a:solidFill>
            <a:srgbClr val="1A5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🏛️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0604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
Governance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54680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  <a:latin typeface="Calibri"/>
              </a:rPr>
              <a:t>Define ownership,
policies &amp; standards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72968" y="1828800"/>
            <a:ext cx="2606040" cy="2011680"/>
          </a:xfrm>
          <a:prstGeom prst="roundRect">
            <a:avLst>
              <a:gd name="adj" fmla="val 30000"/>
            </a:avLst>
          </a:prstGeom>
          <a:solidFill>
            <a:srgbClr val="1A5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192024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260604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Profiling &amp;
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3154680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  <a:latin typeface="Calibri"/>
              </a:rPr>
              <a:t>Baseline quality
assessment &amp; scoring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0176" y="1828800"/>
            <a:ext cx="2606040" cy="2011680"/>
          </a:xfrm>
          <a:prstGeom prst="roundRect">
            <a:avLst>
              <a:gd name="adj" fmla="val 30000"/>
            </a:avLst>
          </a:prstGeom>
          <a:solidFill>
            <a:srgbClr val="1A5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17336" y="192024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17336" y="260604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Automated
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3154680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  <a:latin typeface="Calibri"/>
              </a:rPr>
              <a:t>Rule-based checks,
alerts &amp; auto-remediation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7384" y="1828800"/>
            <a:ext cx="2606040" cy="2011680"/>
          </a:xfrm>
          <a:prstGeom prst="roundRect">
            <a:avLst>
              <a:gd name="adj" fmla="val 30000"/>
            </a:avLst>
          </a:prstGeom>
          <a:solidFill>
            <a:srgbClr val="1A5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24544" y="1920240"/>
            <a:ext cx="822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24544" y="260604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Lifecycle
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24544" y="3154680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FF"/>
                </a:solidFill>
                <a:latin typeface="Calibri"/>
              </a:rPr>
              <a:t>Archival, retention
&amp; refresh policies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2697480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  <a:latin typeface="Calibri"/>
              </a:rPr>
              <a:t>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33288" y="2697480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  <a:latin typeface="Calibri"/>
              </a:rPr>
              <a:t>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0496" y="2697480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A623"/>
                </a:solidFill>
                <a:latin typeface="Calibri"/>
              </a:rPr>
              <a:t>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0416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09C"/>
                </a:solidFill>
                <a:latin typeface="Calibri"/>
              </a:rPr>
              <a:t>Governance Accountability Model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434840"/>
            <a:ext cx="2852928" cy="310896"/>
          </a:xfrm>
          <a:prstGeom prst="rect">
            <a:avLst/>
          </a:prstGeom>
          <a:solidFill>
            <a:srgbClr val="1A5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453128"/>
            <a:ext cx="2761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4434840"/>
            <a:ext cx="4315968" cy="310896"/>
          </a:xfrm>
          <a:prstGeom prst="rect">
            <a:avLst/>
          </a:prstGeom>
          <a:solidFill>
            <a:srgbClr val="1A5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9000" y="4453128"/>
            <a:ext cx="4224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Responsibility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4434840"/>
            <a:ext cx="4041648" cy="310896"/>
          </a:xfrm>
          <a:prstGeom prst="rect">
            <a:avLst/>
          </a:prstGeom>
          <a:solidFill>
            <a:srgbClr val="1A5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4453128"/>
            <a:ext cx="3950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745736"/>
            <a:ext cx="2852928" cy="310896"/>
          </a:xfrm>
          <a:prstGeom prst="rect">
            <a:avLst/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782312"/>
            <a:ext cx="2761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Chief Data Officer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37560" y="4745736"/>
            <a:ext cx="4315968" cy="310896"/>
          </a:xfrm>
          <a:prstGeom prst="rect">
            <a:avLst/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29000" y="4782312"/>
            <a:ext cx="4224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Strategy &amp; Policy oversight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0" y="4745736"/>
            <a:ext cx="4041648" cy="310896"/>
          </a:xfrm>
          <a:prstGeom prst="rect">
            <a:avLst/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0" y="4782312"/>
            <a:ext cx="3950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Enterprise-wide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056631"/>
            <a:ext cx="285292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093207"/>
            <a:ext cx="2761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Data Stewards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37560" y="5056631"/>
            <a:ext cx="431596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29000" y="5093207"/>
            <a:ext cx="4224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Domain-level quality ownership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0" y="5056631"/>
            <a:ext cx="404164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63840" y="5093207"/>
            <a:ext cx="3950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Per product/LMS module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367527"/>
            <a:ext cx="2852928" cy="310896"/>
          </a:xfrm>
          <a:prstGeom prst="rect">
            <a:avLst/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5404103"/>
            <a:ext cx="2761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Data Engineering Team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37560" y="5367527"/>
            <a:ext cx="4315968" cy="310896"/>
          </a:xfrm>
          <a:prstGeom prst="rect">
            <a:avLst/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29000" y="5404103"/>
            <a:ext cx="4224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Automated validation pipelines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0" y="5367527"/>
            <a:ext cx="4041648" cy="310896"/>
          </a:xfrm>
          <a:prstGeom prst="rect">
            <a:avLst/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63840" y="5404103"/>
            <a:ext cx="3950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Technical layer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678424"/>
            <a:ext cx="285292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5715000"/>
            <a:ext cx="2761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Business Analysts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337560" y="5678424"/>
            <a:ext cx="431596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29000" y="5715000"/>
            <a:ext cx="4224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KPI reporting &amp; insight validation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0" y="5678424"/>
            <a:ext cx="404164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63840" y="5715000"/>
            <a:ext cx="3950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Analytics &amp; BI tools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6400800"/>
            <a:ext cx="11475720" cy="365760"/>
          </a:xfrm>
          <a:prstGeom prst="rect">
            <a:avLst/>
          </a:prstGeom>
          <a:solidFill>
            <a:srgbClr val="E8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64282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0878A"/>
                </a:solidFill>
                <a:latin typeface="Calibri"/>
              </a:rPr>
              <a:t>💡  Takeaway: Governance structures and automated checks together ensure long-term, scalable data reliability.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612880" y="658368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  <a:latin typeface="Calibri"/>
              </a:rPr>
              <a:t>3 / 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0040" y="66019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  <a:latin typeface="Calibri"/>
              </a:rPr>
              <a:t>EdTech DQA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5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94592" y="65836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  <a:latin typeface="Calibri"/>
              </a:rPr>
              <a:t>4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SLIDE 04  |  SAMPLE DATASET &amp; DQA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029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509C"/>
                </a:solidFill>
                <a:latin typeface="Calibri"/>
              </a:rPr>
              <a:t>Dataset Overview &amp; Issues Discovered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155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657A"/>
                </a:solidFill>
                <a:latin typeface="Calibri"/>
              </a:rPr>
              <a:t>6-table EdTech dataset · 225 records · 46 quality issues identified across all tables.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5029200" cy="36576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600200"/>
            <a:ext cx="2697480" cy="914400"/>
          </a:xfrm>
          <a:prstGeom prst="rect">
            <a:avLst/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600200"/>
            <a:ext cx="2697480" cy="50292"/>
          </a:xfrm>
          <a:prstGeom prst="rect">
            <a:avLst/>
          </a:prstGeom>
          <a:solidFill>
            <a:srgbClr val="1A5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64208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509C"/>
                </a:solidFill>
                <a:latin typeface="Calibri"/>
              </a:rPr>
              <a:t>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762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Total Issues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1600200"/>
            <a:ext cx="2697480" cy="914400"/>
          </a:xfrm>
          <a:prstGeom prst="rect">
            <a:avLst/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18688" y="1600200"/>
            <a:ext cx="2697480" cy="50292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5848" y="1664208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4444"/>
                </a:solidFill>
                <a:latin typeface="Calibri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21762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Critical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71616" y="1600200"/>
            <a:ext cx="2697480" cy="914400"/>
          </a:xfrm>
          <a:prstGeom prst="rect">
            <a:avLst/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71616" y="1600200"/>
            <a:ext cx="2697480" cy="5029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08776" y="1664208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8C00"/>
                </a:solidFill>
                <a:latin typeface="Calibri"/>
              </a:rPr>
              <a:t>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6" y="21762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High Severity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24544" y="1600200"/>
            <a:ext cx="2697480" cy="914400"/>
          </a:xfrm>
          <a:prstGeom prst="rect">
            <a:avLst/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24544" y="1600200"/>
            <a:ext cx="2697480" cy="5029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1704" y="1664208"/>
            <a:ext cx="2377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878A"/>
                </a:solidFill>
                <a:latin typeface="Calibri"/>
              </a:rPr>
              <a:t>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1704" y="21762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Medium / 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33472"/>
            <a:ext cx="3429000" cy="292608"/>
          </a:xfrm>
          <a:prstGeom prst="rect">
            <a:avLst/>
          </a:prstGeom>
          <a:solidFill>
            <a:srgbClr val="1A5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65176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Table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86200" y="2633472"/>
            <a:ext cx="1005840" cy="292608"/>
          </a:xfrm>
          <a:prstGeom prst="rect">
            <a:avLst/>
          </a:prstGeom>
          <a:solidFill>
            <a:srgbClr val="1A5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77639" y="26517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Rows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83480" y="2633472"/>
            <a:ext cx="1005840" cy="292608"/>
          </a:xfrm>
          <a:prstGeom prst="rect">
            <a:avLst/>
          </a:prstGeom>
          <a:solidFill>
            <a:srgbClr val="1A5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4920" y="26517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Issues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2633472"/>
            <a:ext cx="6035040" cy="292608"/>
          </a:xfrm>
          <a:prstGeom prst="rect">
            <a:avLst/>
          </a:prstGeom>
          <a:solidFill>
            <a:srgbClr val="1A5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2651760"/>
            <a:ext cx="58521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Key Problems Found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944368"/>
            <a:ext cx="3429000" cy="475488"/>
          </a:xfrm>
          <a:prstGeom prst="rect">
            <a:avLst/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2944368"/>
            <a:ext cx="1005840" cy="475488"/>
          </a:xfrm>
          <a:prstGeom prst="rect">
            <a:avLst/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983480" y="2944368"/>
            <a:ext cx="1005840" cy="475488"/>
          </a:xfrm>
          <a:prstGeom prst="rect">
            <a:avLst/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80760" y="2944368"/>
            <a:ext cx="6035040" cy="475488"/>
          </a:xfrm>
          <a:prstGeom prst="rect">
            <a:avLst/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0358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09C"/>
                </a:solidFill>
                <a:latin typeface="Calibri"/>
              </a:rPr>
              <a:t>📋 Learners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77639" y="303580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50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74920" y="303580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444"/>
                </a:solidFill>
                <a:latin typeface="Calibri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3035808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  <a:latin typeface="Calibri"/>
              </a:rPr>
              <a:t>Null email, duplicate ID, future DOB, invalid phone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438144"/>
            <a:ext cx="3429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886200" y="3438144"/>
            <a:ext cx="1005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83480" y="3438144"/>
            <a:ext cx="1005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80760" y="3438144"/>
            <a:ext cx="60350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352958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09C"/>
                </a:solidFill>
                <a:latin typeface="Calibri"/>
              </a:rPr>
              <a:t>📚 Courses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77639" y="352958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74920" y="352958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00"/>
                </a:solidFill>
                <a:latin typeface="Calibri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72200" y="3529584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  <a:latin typeface="Calibri"/>
              </a:rPr>
              <a:t>Negative duration/price, end &lt; start date, status typo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3931920"/>
            <a:ext cx="3429000" cy="475488"/>
          </a:xfrm>
          <a:prstGeom prst="rect">
            <a:avLst/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886200" y="3931920"/>
            <a:ext cx="1005840" cy="475488"/>
          </a:xfrm>
          <a:prstGeom prst="rect">
            <a:avLst/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983480" y="3931920"/>
            <a:ext cx="1005840" cy="475488"/>
          </a:xfrm>
          <a:prstGeom prst="rect">
            <a:avLst/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080760" y="3931920"/>
            <a:ext cx="6035040" cy="475488"/>
          </a:xfrm>
          <a:prstGeom prst="rect">
            <a:avLst/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4023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09C"/>
                </a:solidFill>
                <a:latin typeface="Calibri"/>
              </a:rPr>
              <a:t>📝 Assessments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77639" y="40233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74920" y="40233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00"/>
                </a:solidFill>
                <a:latin typeface="Calibri"/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72200" y="402336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  <a:latin typeface="Calibri"/>
              </a:rPr>
              <a:t>max_score=0, passing &gt; max, orphan course_id, dup ID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4425696"/>
            <a:ext cx="3429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886200" y="4425696"/>
            <a:ext cx="1005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83480" y="4425696"/>
            <a:ext cx="1005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080760" y="4425696"/>
            <a:ext cx="60350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45171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09C"/>
                </a:solidFill>
                <a:latin typeface="Calibri"/>
              </a:rPr>
              <a:t>📌 Course Enrollments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77639" y="451713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70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74920" y="451713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444"/>
                </a:solidFill>
                <a:latin typeface="Calibri"/>
              </a:rPr>
              <a:t>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72200" y="4517136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  <a:latin typeface="Calibri"/>
              </a:rPr>
              <a:t>Orphan IDs, grade &gt; 100, completion &lt; enrollment, dup rows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4919472"/>
            <a:ext cx="3429000" cy="475488"/>
          </a:xfrm>
          <a:prstGeom prst="rect">
            <a:avLst/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886200" y="4919472"/>
            <a:ext cx="1005840" cy="475488"/>
          </a:xfrm>
          <a:prstGeom prst="rect">
            <a:avLst/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983480" y="4919472"/>
            <a:ext cx="1005840" cy="475488"/>
          </a:xfrm>
          <a:prstGeom prst="rect">
            <a:avLst/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080760" y="4919472"/>
            <a:ext cx="6035040" cy="475488"/>
          </a:xfrm>
          <a:prstGeom prst="rect">
            <a:avLst/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50109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09C"/>
                </a:solidFill>
                <a:latin typeface="Calibri"/>
              </a:rPr>
              <a:t>💳 Transactions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977639" y="501091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50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74920" y="501091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444"/>
                </a:solidFill>
                <a:latin typeface="Calibri"/>
              </a:rPr>
              <a:t>10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72200" y="501091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  <a:latin typeface="Calibri"/>
              </a:rPr>
              <a:t>Negative amount, invalid currency, null date, status typo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5760" y="5413248"/>
            <a:ext cx="34290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886200" y="5413248"/>
            <a:ext cx="1005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983480" y="5413248"/>
            <a:ext cx="1005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080760" y="5413248"/>
            <a:ext cx="60350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55046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09C"/>
                </a:solidFill>
                <a:latin typeface="Calibri"/>
              </a:rPr>
              <a:t>📅 Academic Calendar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977639" y="55046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10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74920" y="55046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878A"/>
                </a:solidFill>
                <a:latin typeface="Calibri"/>
              </a:rPr>
              <a:t>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72200" y="5504688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  <a:latin typeface="Calibri"/>
              </a:rPr>
              <a:t>Overlapping terms, end &lt; start, null term name, dup ID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" y="6400800"/>
            <a:ext cx="11475720" cy="365760"/>
          </a:xfrm>
          <a:prstGeom prst="rect">
            <a:avLst/>
          </a:prstGeom>
          <a:solidFill>
            <a:srgbClr val="E8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48640" y="64282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0878A"/>
                </a:solidFill>
                <a:latin typeface="Calibri"/>
              </a:rPr>
              <a:t>💡  Takeaway: All 6 tables contained quality issues. Transactions and Enrollments had the highest risk — directly impacting financial accuracy and learner analytics.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5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594592" y="658368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657A"/>
                </a:solidFill>
                <a:latin typeface="Calibri"/>
              </a:rPr>
              <a:t>5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SLIDE 05  |  DATA CLEANING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029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509C"/>
                </a:solidFill>
                <a:latin typeface="Calibri"/>
              </a:rPr>
              <a:t>Data Cleaning — Before &amp; After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155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657A"/>
                </a:solidFill>
                <a:latin typeface="Calibri"/>
              </a:rPr>
              <a:t>45+ targeted fixes applied · Cleaned dataset ready for analytics and reporting.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08760"/>
            <a:ext cx="5029200" cy="36576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600200"/>
            <a:ext cx="2286000" cy="347472"/>
          </a:xfrm>
          <a:prstGeom prst="rect">
            <a:avLst/>
          </a:prstGeom>
          <a:solidFill>
            <a:srgbClr val="1A5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2763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1600200"/>
            <a:ext cx="4206240" cy="347472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1627632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❌  Issue Found (Before)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1600200"/>
            <a:ext cx="5212080" cy="347472"/>
          </a:xfrm>
          <a:prstGeom prst="rect">
            <a:avLst/>
          </a:prstGeom>
          <a:solidFill>
            <a:srgbClr val="008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162763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✅  Resolution Applied (After)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993392"/>
            <a:ext cx="2286000" cy="722376"/>
          </a:xfrm>
          <a:prstGeom prst="rect">
            <a:avLst/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97480" y="1993392"/>
            <a:ext cx="4206240" cy="722376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49440" y="1993392"/>
            <a:ext cx="5212080" cy="722376"/>
          </a:xfrm>
          <a:prstGeom prst="rect">
            <a:avLst/>
          </a:prstGeom>
          <a:solidFill>
            <a:srgbClr val="E8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039112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09C"/>
                </a:solidFill>
                <a:latin typeface="Calibri"/>
              </a:rPr>
              <a:t>Learners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2039112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2222"/>
                </a:solidFill>
                <a:latin typeface="Calibri"/>
              </a:rPr>
              <a:t>Null email · Invalid format · Future DOB · Duplicate ID · Inconsistent 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03911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6B6E"/>
                </a:solidFill>
                <a:latin typeface="Calibri"/>
              </a:rPr>
              <a:t>Placeholder email filled · Format flagged · DOB cleared · Duplicate removed · Title Case applied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743200"/>
            <a:ext cx="2286000" cy="722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97480" y="2743200"/>
            <a:ext cx="4206240" cy="722376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49440" y="2743200"/>
            <a:ext cx="5212080" cy="722376"/>
          </a:xfrm>
          <a:prstGeom prst="rect">
            <a:avLst/>
          </a:prstGeom>
          <a:solidFill>
            <a:srgbClr val="E8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7889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09C"/>
                </a:solidFill>
                <a:latin typeface="Calibri"/>
              </a:rPr>
              <a:t>Courses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278892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2222"/>
                </a:solidFill>
                <a:latin typeface="Calibri"/>
              </a:rPr>
              <a:t>Negative duration &amp; price · end_date &lt; start_date · Status typo "publihsed"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7889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6B6E"/>
                </a:solidFill>
                <a:latin typeface="Calibri"/>
              </a:rPr>
              <a:t>Duration set to 1 (min) · Price set to 0 · Dates swapped · Mapped to "Published"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493008"/>
            <a:ext cx="2286000" cy="722376"/>
          </a:xfrm>
          <a:prstGeom prst="rect">
            <a:avLst/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97480" y="3493008"/>
            <a:ext cx="4206240" cy="722376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49440" y="3493008"/>
            <a:ext cx="5212080" cy="722376"/>
          </a:xfrm>
          <a:prstGeom prst="rect">
            <a:avLst/>
          </a:prstGeom>
          <a:solidFill>
            <a:srgbClr val="E8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538728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09C"/>
                </a:solidFill>
                <a:latin typeface="Calibri"/>
              </a:rPr>
              <a:t>Assessments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8920" y="3538728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2222"/>
                </a:solidFill>
                <a:latin typeface="Calibri"/>
              </a:rPr>
              <a:t>max_score = 0 · passing_score &gt; max · due_date &lt; created_date · Orphan course_id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538728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6B6E"/>
                </a:solidFill>
                <a:latin typeface="Calibri"/>
              </a:rPr>
              <a:t>max_score set to 100 · passing_score capped at 50% · due_date = created + 14d · Flagged as CRS_UNLINKED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242816"/>
            <a:ext cx="2286000" cy="722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697480" y="4242816"/>
            <a:ext cx="4206240" cy="722376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949440" y="4242816"/>
            <a:ext cx="5212080" cy="722376"/>
          </a:xfrm>
          <a:prstGeom prst="rect">
            <a:avLst/>
          </a:prstGeom>
          <a:solidFill>
            <a:srgbClr val="E8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288536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09C"/>
                </a:solidFill>
                <a:latin typeface="Calibri"/>
              </a:rPr>
              <a:t>Enrollments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4288536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2222"/>
                </a:solidFill>
                <a:latin typeface="Calibri"/>
              </a:rPr>
              <a:t>Orphan learner/course IDs · Grade = 150 · completion &lt; enrollment · Duplicate rows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4288536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6B6E"/>
                </a:solidFill>
                <a:latin typeface="Calibri"/>
              </a:rPr>
              <a:t>Orphan rows removed · Grade capped at 100 · Completion date corrected · Duplicates deleted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992624"/>
            <a:ext cx="2286000" cy="722376"/>
          </a:xfrm>
          <a:prstGeom prst="rect">
            <a:avLst/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697480" y="4992624"/>
            <a:ext cx="4206240" cy="722376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949440" y="4992624"/>
            <a:ext cx="5212080" cy="722376"/>
          </a:xfrm>
          <a:prstGeom prst="rect">
            <a:avLst/>
          </a:prstGeom>
          <a:solidFill>
            <a:srgbClr val="E8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038344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09C"/>
                </a:solidFill>
                <a:latin typeface="Calibri"/>
              </a:rPr>
              <a:t>Transactions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88920" y="5038344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2222"/>
                </a:solidFill>
                <a:latin typeface="Calibri"/>
              </a:rPr>
              <a:t>Negative amount · Zero amount · Null payment method · Invalid currency "us" · Status typo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5038344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6B6E"/>
                </a:solidFill>
                <a:latin typeface="Calibri"/>
              </a:rPr>
              <a:t>Amount = 0, status = Refunded · Status = Waiver · Method = "Unknown" · Currency = "USD" · Fixed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742431"/>
            <a:ext cx="2286000" cy="722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697480" y="5742431"/>
            <a:ext cx="4206240" cy="722376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949440" y="5742431"/>
            <a:ext cx="5212080" cy="722376"/>
          </a:xfrm>
          <a:prstGeom prst="rect">
            <a:avLst/>
          </a:prstGeom>
          <a:solidFill>
            <a:srgbClr val="E8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5788151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509C"/>
                </a:solidFill>
                <a:latin typeface="Calibri"/>
              </a:rPr>
              <a:t>Academic Calendar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88920" y="5788151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A2222"/>
                </a:solidFill>
                <a:latin typeface="Calibri"/>
              </a:rPr>
              <a:t>end_date &lt; start_date · Overlapping terms · Null term name · Duplicate calendar_id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0880" y="5788151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6B6E"/>
                </a:solidFill>
                <a:latin typeface="Calibri"/>
              </a:rPr>
              <a:t>Dates swapped · Start dates adjusted to avoid overlap · Name filled from ID · Duplicate removed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6400800"/>
            <a:ext cx="11475720" cy="365760"/>
          </a:xfrm>
          <a:prstGeom prst="rect">
            <a:avLst/>
          </a:prstGeom>
          <a:solidFill>
            <a:srgbClr val="E8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642823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0878A"/>
                </a:solidFill>
                <a:latin typeface="Calibri"/>
              </a:rPr>
              <a:t>💡  Takeaway: All 46 issues resolved through automated cleaning rules — cleaned dataset is analytics-ready with 0 critical issues remaining.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