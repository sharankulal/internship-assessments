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Annual Revenue &amp; EBITDA (₹ Crore)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072BD"/>
            </a:solidFill>
          </c:spPr>
          <c:cat>
            <c:strRef>
              <c:f>Sheet1!$A$2:$A$6</c:f>
              <c:strCache>
                <c:ptCount val="5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</c:v>
                </c:pt>
                <c:pt idx="1">
                  <c:v>19.7</c:v>
                </c:pt>
                <c:pt idx="2">
                  <c:v>43.8</c:v>
                </c:pt>
                <c:pt idx="3">
                  <c:v>75.3</c:v>
                </c:pt>
                <c:pt idx="4">
                  <c:v>105.0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Cr)</c:v>
                </c:pt>
              </c:strCache>
            </c:strRef>
          </c:tx>
          <c:spPr>
            <a:solidFill>
              <a:srgbClr val="00E076"/>
            </a:solidFill>
          </c:spPr>
          <c:cat>
            <c:strRef>
              <c:f>Sheet1!$A$2:$A$6</c:f>
              <c:strCache>
                <c:ptCount val="5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1.3</c:v>
                </c:pt>
                <c:pt idx="1">
                  <c:v>7.0</c:v>
                </c:pt>
                <c:pt idx="2">
                  <c:v>15.6</c:v>
                </c:pt>
                <c:pt idx="3">
                  <c:v>27.1</c:v>
                </c:pt>
                <c:pt idx="4">
                  <c:v>38.1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1 (Title):</a:t>
            </a:r>
          </a:p>
          <a:p>
            <a:r>
              <a:t>Welcome. This deck presents the investment &amp; execution case for a Battery Swapping as a Service (BSaaS) venture in India. Duration ~35 min +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2:</a:t>
            </a:r>
          </a:p>
          <a:p>
            <a:r>
              <a:t>India needs 34,000 more stations by 2030. The BSaaS market is validated — Battery Smart alone raised USD 65M Series B. 3W commercial vehicles are already 55%+ electrified in new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3:</a:t>
            </a:r>
          </a:p>
          <a:p>
            <a:r>
              <a:t>Focus on the commercial rider's pain: 2 hrs/day charging = ₹300-600 lost income. Multiply by 500K+ gig riders. Grid stress is both a risk AND an opportunity — BSaaS can be a demand-response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4:</a:t>
            </a:r>
          </a:p>
          <a:p>
            <a:r>
              <a:t>The 90-second swap is the 'aha' moment. BSaaS is the propane-tank model applied to EVs: battery is a service, not an asset the rider owns. This lowers EV sticker price AND gives the operator a guaranteed recurring revenue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5:</a:t>
            </a:r>
          </a:p>
          <a:p>
            <a:r>
              <a:t>Hardware is the enabler, but the moat is in software. BMS telemetry enables AI health scoring (extends life 15-20%). Cloud analytics creates the SaaS revenue layer. Solar integration reduces energy OpEx 25-35%.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6:</a:t>
            </a:r>
          </a:p>
          <a:p>
            <a:r>
              <a:t> USD 1.1B market validated by Battery Smart's USD 65M raise. Phase 1 targets 2 metro cities with high 3W density. Government outlay de-risks the infrastructure CapEx via subsidy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7:</a:t>
            </a:r>
          </a:p>
          <a:p>
            <a:r>
              <a:t>3 key advantages: (1) IS 17893 open standard — not locked to one OEM; (2) Solar-hybrid — lower energy cost/swap; (3) AI health scoring — extends battery life, reduces CapEx. Battery Smart is closest — we win on 2W segment, solar, and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8:</a:t>
            </a:r>
          </a:p>
          <a:p>
            <a:r>
              <a:t>Pay-per-swap is the volume base. Fleet subscription adds predictability. SaaS is zero-incremental-cost to scale — highest margin stream. EBITDA of 35% matches top fuel retail economics.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9:</a:t>
            </a:r>
          </a:p>
          <a:p>
            <a:r>
              <a:t>₹120 avg blended price (B2C + fleet). 65% utilisation Year 1 ramp. EBITDA ~35% at maturity. Station-level payback 14-17 months. Network IRR 28-35% over 5 years. Break-even at 35-40 active stations.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10:</a:t>
            </a:r>
          </a:p>
          <a:p>
            <a:r>
              <a:t>90s vs 60min is the headline. But the real story is: lower install cost, no rider battery risk, off-peak charging, recurring revenue. Fast charging serves 4W/highway — not our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11:</a:t>
            </a:r>
          </a:p>
          <a:p>
            <a:r>
              <a:t>Fleet electrification is most certain near-term driver. Policy is the risk-reducer. LFP cost decline improves our margin over time. IS 17893 unlocks network effect. Solid-state (2028+) is upside, not a threat within investment 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12:</a:t>
            </a:r>
          </a:p>
          <a:p>
            <a:r>
              <a:t>Be transparent about risks. Battery standardisation is #1 structural risk — but IS 17893 adoption is policy-mandated. CapEx risk managed by fleet-first MVP. Solar + SaaS strategy makes business viable even if subsidies sunset.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13:</a:t>
            </a:r>
          </a:p>
          <a:p>
            <a:r>
              <a:t>These 5 enhancements transform a commodity energy dispenser into a defensible tech platform. Open standard builds network moat. AI health = CapEx savings. Solar = margin expansion. Dynamic pricing = utilisation optimisation. Fleet SaaS = near-zero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– Slide 14 (Conclusion):</a:t>
            </a:r>
          </a:p>
          <a:p>
            <a:r>
              <a:t>Large validated market, clear differentiation, fleet-de-risked revenue, strong policy tailwinds. Call to action: approve seed funding for Phase 0 pilot (₹66–100L, 3 stations), secure fleet LOI from 1–2 delivery partners, begin IS 17893 compliance.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v_swap_station_hero_17721181774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3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3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38544" y="0"/>
            <a:ext cx="5550408" cy="6858000"/>
          </a:xfrm>
          <a:prstGeom prst="rect">
            <a:avLst/>
          </a:prstGeom>
          <a:solidFill>
            <a:srgbClr val="03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8229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EV BATTERY
SWAPPING STATION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108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C8FF"/>
                </a:solidFill>
                <a:latin typeface="Segoe UI"/>
              </a:rPr>
              <a:t>A Scalable Energy-as-a-Service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840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Executive Research Report  •  February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  <a:latin typeface="Segoe UI"/>
              </a:rPr>
              <a:t>Prepared for Executive Leadership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5074920"/>
            <a:ext cx="1554480" cy="502920"/>
          </a:xfrm>
          <a:prstGeom prst="rect">
            <a:avLst/>
          </a:prstGeom>
          <a:solidFill>
            <a:srgbClr val="003B7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512064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076"/>
                </a:solidFill>
                <a:latin typeface="Segoe UI"/>
              </a:rPr>
              <a:t>⚡ &lt; 90s Swap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5074920"/>
            <a:ext cx="1554480" cy="502920"/>
          </a:xfrm>
          <a:prstGeom prst="rect">
            <a:avLst/>
          </a:prstGeom>
          <a:solidFill>
            <a:srgbClr val="003B7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512064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076"/>
                </a:solidFill>
                <a:latin typeface="Segoe UI"/>
              </a:rPr>
              <a:t>🔋 ₹120/Swap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0" y="5074920"/>
            <a:ext cx="1554480" cy="502920"/>
          </a:xfrm>
          <a:prstGeom prst="rect">
            <a:avLst/>
          </a:prstGeom>
          <a:solidFill>
            <a:srgbClr val="003B7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59567" y="512064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076"/>
                </a:solidFill>
                <a:latin typeface="Segoe UI"/>
              </a:rPr>
              <a:t>♻ 35% 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852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Fast  •  Clean  •  Profitable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1/14</a:t>
            </a:r>
          </a:p>
        </p:txBody>
      </p:sp>
    </p:spTree>
  </p:cSld>
  <p:transition spd="slow" dur="600">
    <p:fade/>
  </p:transition>
  <p:clrMapOvr>
    <a:masterClrMapping/>
  </p:clrMapOvr>
  <p:timing>
    <p:tnLst>
      <p:par>
        <p:cTn id="1" dur="indefinite" restart="whenNotActive" nodeType="tmRoot">
          <p:childTnLst>
            <p:par>
              <p:cTn fill="hold">
                <p:stCondLst>
                  <p:cond delay="3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5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7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India's EV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Massive market + infrastructure gap = the BSaaS window</a:t>
            </a:r>
          </a:p>
        </p:txBody>
      </p:sp>
      <p:pic>
        <p:nvPicPr>
          <p:cNvPr id="6" name="Picture 5" descr="india_ev_growth_17721182019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84632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1417320"/>
            <a:ext cx="6492240" cy="1115568"/>
          </a:xfrm>
          <a:prstGeom prst="rect">
            <a:avLst/>
          </a:prstGeom>
          <a:solidFill>
            <a:srgbClr val="071A3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73152" cy="11155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087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FF"/>
                </a:solidFill>
                <a:latin typeface="Segoe UI"/>
              </a:rPr>
              <a:t>1.73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Total EV Registrations – FY24 (VAHAN)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79191"/>
            <a:ext cx="6492240" cy="1115568"/>
          </a:xfrm>
          <a:prstGeom prst="rect">
            <a:avLst/>
          </a:prstGeom>
          <a:solidFill>
            <a:srgbClr val="071A3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679191"/>
            <a:ext cx="73152" cy="11155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7706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FF"/>
                </a:solidFill>
                <a:latin typeface="Segoe UI"/>
              </a:rPr>
              <a:t>+43%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37559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3W EV YoY Growth – FY24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41063"/>
            <a:ext cx="6492240" cy="1115568"/>
          </a:xfrm>
          <a:prstGeom prst="rect">
            <a:avLst/>
          </a:prstGeom>
          <a:solidFill>
            <a:srgbClr val="071A3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41063"/>
            <a:ext cx="73152" cy="11155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032503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FF"/>
                </a:solidFill>
                <a:latin typeface="Segoe UI"/>
              </a:rPr>
              <a:t>USD 1.1B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599431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Swapping Market Size by 2026 (IESA)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02936"/>
            <a:ext cx="6492240" cy="1115568"/>
          </a:xfrm>
          <a:prstGeom prst="rect">
            <a:avLst/>
          </a:prstGeom>
          <a:solidFill>
            <a:srgbClr val="071A3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202936"/>
            <a:ext cx="73152" cy="11155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5294375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FF"/>
                </a:solidFill>
                <a:latin typeface="Segoe UI"/>
              </a:rPr>
              <a:t>46,000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5861303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Charging Stations Needed by 2030 (BEE)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2/14</a:t>
            </a:r>
          </a:p>
        </p:txBody>
      </p:sp>
    </p:spTree>
  </p:cSld>
  <p:transition spd="slow" dur="600">
    <p:push dir="l"/>
  </p:transition>
  <p:clrMapOvr>
    <a:masterClrMapping/>
  </p:clrMapOvr>
  <p:timing>
    <p:tnLst>
      <p:par>
        <p:cTn id="1" dur="indefinite" restart="whenNotActive" nodeType="tmRoot">
          <p:childTnLst>
            <p:par>
              <p:cTn fill="hold">
                <p:stCondLst>
                  <p:cond delay="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15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3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45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The Four Bottlenecks Blocking EV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Charging infrastructure alone cannot solve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760720" cy="224028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76072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4533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Segoe UI"/>
              </a:rPr>
              <a:t>⏱ Charging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075688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5–8 hours Level 2 / 1 hr DC fast charge — unacceptable for 150-200 km/day riders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760720" cy="224028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76072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54533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  <a:latin typeface="Segoe UI"/>
              </a:rPr>
              <a:t>💰 Battery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075688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Batteries = 35–45% of EV price (BNEF 2023); ₹25K–₹1.2L upfront barrier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5760720" cy="224028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576072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96849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Segoe UI"/>
              </a:rPr>
              <a:t>📡 Range Anxiety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498848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60–100 km real range; 15–25% productivity loss for gig workers (CEEW 2023)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5760720" cy="224028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840480"/>
            <a:ext cx="576072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1" y="396849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  <a:latin typeface="Segoe UI"/>
              </a:rPr>
              <a:t>⚡ Grid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4498848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Unmanaged EV charging could add 6–8 GW to peak demand by 2030 (CEA 2023)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3/14</a:t>
            </a:r>
          </a:p>
        </p:txBody>
      </p:sp>
    </p:spTree>
  </p:cSld>
  <p:transition spd="slow" dur="600">
    <p:fade/>
  </p:transition>
  <p:clrMapOvr>
    <a:masterClrMapping/>
  </p:clrMapOvr>
  <p:timing>
    <p:tnLst>
      <p:par>
        <p:cTn id="1" dur="indefinite" restart="whenNotActive" nodeType="tmRoot">
          <p:childTnLst>
            <p:par>
              <p:cTn fill="hold">
                <p:stCondLst>
                  <p:cond delay="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18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36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54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What is Battery Swapping?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From hours of waiting → 90 seconds of swapping</a:t>
            </a:r>
          </a:p>
        </p:txBody>
      </p:sp>
      <p:pic>
        <p:nvPicPr>
          <p:cNvPr id="6" name="Picture 5" descr="fleet_delivery_ev_17721182521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57784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1417320"/>
            <a:ext cx="5852160" cy="516636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64008" cy="5166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  <a:latin typeface="Segoe UI"/>
              </a:rPr>
              <a:t>🔴 Traditional Charging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  ▸  5–8 hours (Level 2) or 60 min DC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597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  ▸  Driver idle = lost 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620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  ▸  ₹50–80 Lakh installation per DC station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644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  ▸  Grid peak load spikes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31335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6"/>
                </a:solidFill>
                <a:latin typeface="Segoe UI"/>
              </a:rPr>
              <a:t>🟢 Battery Swapping (BSaaS)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34255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  ▸  &lt; 90 seconds — faster than petrol pump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365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  ▸  Zero rider downtime; immediate route restart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389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  ▸  ₹20–31 Lakh total station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4126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  ▸  Off-peak charging reduces grid stress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4/14</a:t>
            </a:r>
          </a:p>
        </p:txBody>
      </p:sp>
    </p:spTree>
  </p:cSld>
  <p:transition spd="slow" dur="600">
    <p:push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5 integrated layers from pack to cloud</a:t>
            </a:r>
          </a:p>
        </p:txBody>
      </p:sp>
      <p:pic>
        <p:nvPicPr>
          <p:cNvPr id="6" name="Picture 5" descr="battery_tech_bms_1772118231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38912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46320" y="1417320"/>
            <a:ext cx="7132320" cy="960120"/>
          </a:xfrm>
          <a:prstGeom prst="rect">
            <a:avLst/>
          </a:prstGeom>
          <a:solidFill>
            <a:srgbClr val="071A3E"/>
          </a:solidFill>
          <a:ln w="1905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0" y="1417320"/>
            <a:ext cx="64008" cy="96012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472184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6"/>
                </a:solidFill>
                <a:latin typeface="Segoe UI"/>
              </a:rPr>
              <a:t>1  Battery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74519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LFP/NMC · 1.5–8 kWh · IP67 · 2,000 cycles · IS 17893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468880"/>
            <a:ext cx="7132320" cy="960120"/>
          </a:xfrm>
          <a:prstGeom prst="rect">
            <a:avLst/>
          </a:prstGeom>
          <a:solidFill>
            <a:srgbClr val="071A3E"/>
          </a:solidFill>
          <a:ln w="1905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2468880"/>
            <a:ext cx="64008" cy="96012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523744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6"/>
                </a:solidFill>
                <a:latin typeface="Segoe UI"/>
              </a:rPr>
              <a:t>2  BMS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260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SoC/SoH monitoring · Thermal mgmt · Fault alerts · OTA firmware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520439"/>
            <a:ext cx="7132320" cy="960120"/>
          </a:xfrm>
          <a:prstGeom prst="rect">
            <a:avLst/>
          </a:prstGeom>
          <a:solidFill>
            <a:srgbClr val="071A3E"/>
          </a:solidFill>
          <a:ln w="1905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3520439"/>
            <a:ext cx="64008" cy="96012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575303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6"/>
                </a:solidFill>
                <a:latin typeface="Segoe UI"/>
              </a:rPr>
              <a:t>3  Station HW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77639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6–12 smart slots · RFID kiosk · Solar-MPPT ready · UPS buffer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4572000"/>
            <a:ext cx="7132320" cy="960120"/>
          </a:xfrm>
          <a:prstGeom prst="rect">
            <a:avLst/>
          </a:prstGeom>
          <a:solidFill>
            <a:srgbClr val="071A3E"/>
          </a:solidFill>
          <a:ln w="1905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4572000"/>
            <a:ext cx="64008" cy="96012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4626864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6"/>
                </a:solidFill>
                <a:latin typeface="Segoe UI"/>
              </a:rPr>
              <a:t>4  IoT /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292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MQTT 4G/5G telemetry · Real-time slot status · Edge compute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5623559"/>
            <a:ext cx="7132320" cy="960120"/>
          </a:xfrm>
          <a:prstGeom prst="rect">
            <a:avLst/>
          </a:prstGeom>
          <a:solidFill>
            <a:srgbClr val="071A3E"/>
          </a:solidFill>
          <a:ln w="1905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46320" y="5623559"/>
            <a:ext cx="64008" cy="96012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678423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6"/>
                </a:solidFill>
                <a:latin typeface="Segoe UI"/>
              </a:rPr>
              <a:t>5  Cloud +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6080759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Fleet analytics · Demand forecast · Health scoring · Billing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5/14</a:t>
            </a:r>
          </a:p>
        </p:txBody>
      </p:sp>
    </p:spTree>
  </p:cSld>
  <p:transition spd="slow" dur="600">
    <p:fade/>
  </p:transition>
  <p:clrMapOvr>
    <a:masterClrMapping/>
  </p:clrMapOvr>
  <p:timing>
    <p:tnLst>
      <p:par>
        <p:cTn id="1" dur="indefinite" restart="whenNotActive" nodeType="tmRoot">
          <p:childTnLst>
            <p:par>
              <p:cTn fill="hold">
                <p:stCondLst>
                  <p:cond delay="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14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28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42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56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Market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Validated, growing, and consolidating — the time to enter is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786384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64008" cy="78638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8FF"/>
                </a:solidFill>
                <a:latin typeface="Segoe UI"/>
              </a:rPr>
              <a:t>Total EV Market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52704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₹50,000+ Cr/year by 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5270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  <a:latin typeface="Segoe UI"/>
              </a:rPr>
              <a:t>NITI Aayog 2023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95144"/>
            <a:ext cx="11612880" cy="786384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95144"/>
            <a:ext cx="64008" cy="78638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0487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8FF"/>
                </a:solidFill>
                <a:latin typeface="Segoe UI"/>
              </a:rPr>
              <a:t>Swapping Addressable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04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USD 1.1 Billion by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4048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  <a:latin typeface="Segoe UI"/>
              </a:rPr>
              <a:t>IESA 2023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72968"/>
            <a:ext cx="11612880" cy="786384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72968"/>
            <a:ext cx="64008" cy="78638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8269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8FF"/>
                </a:solidFill>
                <a:latin typeface="Segoe UI"/>
              </a:rPr>
              <a:t>Commercial Converts (2025–30)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8269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~2 million 2W/3W EVs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8269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  <a:latin typeface="Segoe UI"/>
              </a:rPr>
              <a:t>CEEW 2023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50791"/>
            <a:ext cx="11612880" cy="786384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050791"/>
            <a:ext cx="64008" cy="78638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8FF"/>
                </a:solidFill>
                <a:latin typeface="Segoe UI"/>
              </a:rPr>
              <a:t>Battery Cost Decline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1605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USD 90/kWh today → $60 by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160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  <a:latin typeface="Segoe UI"/>
              </a:rPr>
              <a:t>BNEF 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928616"/>
            <a:ext cx="11612880" cy="786384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928616"/>
            <a:ext cx="64008" cy="78638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03834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8FF"/>
                </a:solidFill>
                <a:latin typeface="Segoe UI"/>
              </a:rPr>
              <a:t>Government Outlay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3834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₹20,900 Cr (FAME II + E-DRIVE)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03834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  <a:latin typeface="Segoe UI"/>
              </a:rPr>
              <a:t>MHI + MoP 2024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806440"/>
            <a:ext cx="11612880" cy="786384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806440"/>
            <a:ext cx="64008" cy="78638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161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8FF"/>
                </a:solidFill>
                <a:latin typeface="Segoe UI"/>
              </a:rPr>
              <a:t>Phase 1 Target Cities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91616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Delhi, Bengaluru, Mumbai, Pune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59161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  <a:latin typeface="Segoe UI"/>
              </a:rPr>
              <a:t>Company plan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6/14</a:t>
            </a:r>
          </a:p>
        </p:txBody>
      </p:sp>
    </p:spTree>
  </p:cSld>
  <p:transition spd="slow" dur="600">
    <p:push dir="l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Competitor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We lead on open standards, solar-hybrid, and AI health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1965960" cy="50292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" y="1371600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C8FF"/>
                </a:solidFill>
                <a:latin typeface="Segoe UI"/>
              </a:rPr>
              <a:t>Parameter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325880"/>
            <a:ext cx="2331720" cy="50292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95144" y="1371600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C8FF"/>
                </a:solidFill>
                <a:latin typeface="Segoe UI"/>
              </a:rPr>
              <a:t>Gogoro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325880"/>
            <a:ext cx="2331720" cy="50292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371600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C8FF"/>
                </a:solidFill>
                <a:latin typeface="Segoe UI"/>
              </a:rPr>
              <a:t>Battery Smart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1325880"/>
            <a:ext cx="2331720" cy="50292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0024" y="1371600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C8FF"/>
                </a:solidFill>
                <a:latin typeface="Segoe UI"/>
              </a:rPr>
              <a:t>Sun Mobility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325880"/>
            <a:ext cx="2514600" cy="502920"/>
          </a:xfrm>
          <a:prstGeom prst="rect">
            <a:avLst/>
          </a:prstGeom>
          <a:solidFill>
            <a:srgbClr val="0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27464" y="1371600"/>
            <a:ext cx="245059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E076"/>
                </a:solidFill>
                <a:latin typeface="Segoe UI"/>
              </a:rPr>
              <a:t>Our Venture 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828800"/>
            <a:ext cx="196596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1920240"/>
            <a:ext cx="190195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Primary Market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828800"/>
            <a:ext cx="233172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95144" y="1920240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Taiwan / Global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1828800"/>
            <a:ext cx="233172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3" y="1920240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India 3W / e-rick.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1828800"/>
            <a:ext cx="233172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4" y="1920240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India 2W/3W B2B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828800"/>
            <a:ext cx="2514600" cy="704088"/>
          </a:xfrm>
          <a:prstGeom prst="rect">
            <a:avLst/>
          </a:prstGeom>
          <a:solidFill>
            <a:srgbClr val="003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7464" y="1920240"/>
            <a:ext cx="2450591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E076"/>
                </a:solidFill>
                <a:latin typeface="Segoe UI"/>
              </a:rPr>
              <a:t>India 2W/3W Fleet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578608"/>
            <a:ext cx="196596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2670048"/>
            <a:ext cx="190195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Revenue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578608"/>
            <a:ext cx="233172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95144" y="2670048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Subscription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2578608"/>
            <a:ext cx="233172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583" y="2670048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Per-swap + fleet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2578608"/>
            <a:ext cx="233172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0024" y="2670048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B2B SaaS Energy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600" y="2578608"/>
            <a:ext cx="2514600" cy="704088"/>
          </a:xfrm>
          <a:prstGeom prst="rect">
            <a:avLst/>
          </a:prstGeom>
          <a:solidFill>
            <a:srgbClr val="0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27464" y="2670048"/>
            <a:ext cx="2450591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E076"/>
                </a:solidFill>
                <a:latin typeface="Segoe UI"/>
              </a:rPr>
              <a:t>Swap+Sub+SaaS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328415"/>
            <a:ext cx="196596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" y="3419856"/>
            <a:ext cx="190195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Battery Standard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3328415"/>
            <a:ext cx="233172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95144" y="3419856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Proprietary 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3328415"/>
            <a:ext cx="233172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2583" y="3419856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Multi-OEM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3328415"/>
            <a:ext cx="233172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50024" y="3419856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Open push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72600" y="3328415"/>
            <a:ext cx="2514600" cy="704088"/>
          </a:xfrm>
          <a:prstGeom prst="rect">
            <a:avLst/>
          </a:prstGeom>
          <a:solidFill>
            <a:srgbClr val="003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27464" y="3419856"/>
            <a:ext cx="2450591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E076"/>
                </a:solidFill>
                <a:latin typeface="Segoe UI"/>
              </a:rPr>
              <a:t>IS 17893 Open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078224"/>
            <a:ext cx="196596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" y="4169663"/>
            <a:ext cx="190195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Solar / Grid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4078224"/>
            <a:ext cx="233172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95144" y="4169663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Grid only 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4078224"/>
            <a:ext cx="233172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72583" y="4169663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Grid only 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95160" y="4078224"/>
            <a:ext cx="233172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0024" y="4169663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Limited solar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4078224"/>
            <a:ext cx="2514600" cy="704088"/>
          </a:xfrm>
          <a:prstGeom prst="rect">
            <a:avLst/>
          </a:prstGeom>
          <a:solidFill>
            <a:srgbClr val="0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27464" y="4169663"/>
            <a:ext cx="2450591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E076"/>
                </a:solidFill>
                <a:latin typeface="Segoe UI"/>
              </a:rPr>
              <a:t>Solar-Hybrid 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828031"/>
            <a:ext cx="196596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" y="4919471"/>
            <a:ext cx="190195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AI Health Mgmt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4828031"/>
            <a:ext cx="233172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95144" y="4919471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Basic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17720" y="4828031"/>
            <a:ext cx="233172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72583" y="4919471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Basic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95160" y="4828031"/>
            <a:ext cx="2331720" cy="704088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50024" y="4919471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Moderate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72600" y="4828031"/>
            <a:ext cx="2514600" cy="704088"/>
          </a:xfrm>
          <a:prstGeom prst="rect">
            <a:avLst/>
          </a:prstGeom>
          <a:solidFill>
            <a:srgbClr val="003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27464" y="4919471"/>
            <a:ext cx="2450591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E076"/>
                </a:solidFill>
                <a:latin typeface="Segoe UI"/>
              </a:rPr>
              <a:t>Advanced ML 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5577840"/>
            <a:ext cx="196596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" y="5669279"/>
            <a:ext cx="190195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Stations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5577840"/>
            <a:ext cx="233172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95144" y="5669279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2,500+ (Taiwan)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17720" y="5577840"/>
            <a:ext cx="233172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72583" y="5669279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1,500+ (India)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95160" y="5577840"/>
            <a:ext cx="2331720" cy="704088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50024" y="5669279"/>
            <a:ext cx="226771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500+ (India)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72600" y="5577840"/>
            <a:ext cx="2514600" cy="704088"/>
          </a:xfrm>
          <a:prstGeom prst="rect">
            <a:avLst/>
          </a:prstGeom>
          <a:solidFill>
            <a:srgbClr val="0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27464" y="5669279"/>
            <a:ext cx="2450591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E076"/>
                </a:solidFill>
                <a:latin typeface="Segoe UI"/>
              </a:rPr>
              <a:t>100 target Yr 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7/14</a:t>
            </a:r>
          </a:p>
        </p:txBody>
      </p:sp>
    </p:spTree>
  </p:cSld>
  <p:transition spd="slow" dur="600">
    <p:fade/>
  </p:transition>
  <p:clrMapOvr>
    <a:masterClrMapping/>
  </p:clrMapOvr>
  <p:timing>
    <p:tnLst>
      <p:par>
        <p:cTn id="1" dur="indefinite" restart="whenNotActive" nodeType="tmRoot">
          <p:childTnLst>
            <p:par>
              <p:cTn fill="hold">
                <p:stCondLst>
                  <p:cond delay="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1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2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3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4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5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Multi-stream revenue anchored on high-frequency, recurring swaps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3749039" cy="2331720"/>
          </a:xfrm>
          <a:prstGeom prst="rect">
            <a:avLst/>
          </a:prstGeom>
          <a:solidFill>
            <a:srgbClr val="071A3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749039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4533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8FF"/>
                </a:solidFill>
                <a:latin typeface="Segoe UI"/>
              </a:rPr>
              <a:t>💳 Pay-Per-Swap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756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₹80–150 / swap
B2C riders &amp; fleet drivers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1417320"/>
            <a:ext cx="3749039" cy="2331720"/>
          </a:xfrm>
          <a:prstGeom prst="rect">
            <a:avLst/>
          </a:prstGeom>
          <a:solidFill>
            <a:srgbClr val="071A3E"/>
          </a:solidFill>
          <a:ln w="19050">
            <a:solidFill>
              <a:srgbClr val="00E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7952" y="1417320"/>
            <a:ext cx="3749039" cy="64008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54533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E076"/>
                </a:solidFill>
                <a:latin typeface="Segoe UI"/>
              </a:rPr>
              <a:t>📅 Fleet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0756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₹2,500–6,000 / vehicle / month
Capped or unlimited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7304" y="1417320"/>
            <a:ext cx="3749039" cy="2331720"/>
          </a:xfrm>
          <a:prstGeom prst="rect">
            <a:avLst/>
          </a:prstGeom>
          <a:solidFill>
            <a:srgbClr val="071A3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417320"/>
            <a:ext cx="3749039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54533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C107"/>
                </a:solidFill>
                <a:latin typeface="Segoe UI"/>
              </a:rPr>
              <a:t>📊 Fleet SaaS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0756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₹2,000–10,000 / fleet / month
Driver score, ESG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931920"/>
            <a:ext cx="3749039" cy="2331720"/>
          </a:xfrm>
          <a:prstGeom prst="rect">
            <a:avLst/>
          </a:prstGeom>
          <a:solidFill>
            <a:srgbClr val="071A3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931920"/>
            <a:ext cx="3749039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59935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8FF"/>
                </a:solidFill>
                <a:latin typeface="Segoe UI"/>
              </a:rPr>
              <a:t>🔋 Battery-as-a-Service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902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₹3,000–8,000 / battery / year
Lifecycle managed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7952" y="3931920"/>
            <a:ext cx="3749039" cy="2331720"/>
          </a:xfrm>
          <a:prstGeom prst="rect">
            <a:avLst/>
          </a:prstGeom>
          <a:solidFill>
            <a:srgbClr val="071A3E"/>
          </a:solidFill>
          <a:ln w="19050">
            <a:solidFill>
              <a:srgbClr val="00E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7952" y="3931920"/>
            <a:ext cx="3749039" cy="64008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4059935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E076"/>
                </a:solidFill>
                <a:latin typeface="Segoe UI"/>
              </a:rPr>
              <a:t>⚡ Grid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45902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₹1–3 / kWh
V2G demand response (future)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6400800"/>
            <a:ext cx="11750040" cy="128016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09944"/>
            <a:ext cx="1170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FF"/>
                </a:solidFill>
                <a:latin typeface="Segoe UI"/>
              </a:rPr>
              <a:t>CapEx: ₹25L / station avg.     EBITDA: ~35% at maturity     Station payback: 14–17 months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8/14</a:t>
            </a:r>
          </a:p>
        </p:txBody>
      </p:sp>
    </p:spTree>
  </p:cSld>
  <p:transition spd="slow" dur="600">
    <p:push dir="l"/>
  </p:transition>
  <p:clrMapOvr>
    <a:masterClrMapping/>
  </p:clrMapOvr>
  <p:timing>
    <p:tnLst>
      <p:par>
        <p:cTn id="1" dur="indefinite" restart="whenNotActive" nodeType="tmRoot">
          <p:childTnLst>
            <p:par>
              <p:cTn fill="hold">
                <p:stCondLst>
                  <p:cond delay="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13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26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39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52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100 stations × 100 swaps/day × ₹120 = ₹43.8 Cr annual revenue by Year 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37160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Picture 6" descr="business_revenue_chart_17721182986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4251960" cy="274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0" y="4251960"/>
            <a:ext cx="877824" cy="39319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8975" y="4297680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  <a:latin typeface="Segoe UI"/>
              </a:rPr>
              <a:t>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4251960"/>
            <a:ext cx="877824" cy="39319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3376" y="4297680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  <a:latin typeface="Segoe UI"/>
              </a:rPr>
              <a:t>Stns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4251960"/>
            <a:ext cx="1152144" cy="39319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37776" y="4297680"/>
            <a:ext cx="1115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  <a:latin typeface="Segoe UI"/>
              </a:rPr>
              <a:t>Rev (₹Cr)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0" y="4251960"/>
            <a:ext cx="1106424" cy="39319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26496" y="4297680"/>
            <a:ext cx="1069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  <a:latin typeface="Segoe UI"/>
              </a:rPr>
              <a:t>EBITDA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690872"/>
            <a:ext cx="87782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4736592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Yr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4690872"/>
            <a:ext cx="87782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3376" y="4736592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4690872"/>
            <a:ext cx="115214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37776" y="4736592"/>
            <a:ext cx="1115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076"/>
                </a:solidFill>
                <a:latin typeface="Segoe UI"/>
              </a:rPr>
              <a:t>3.8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0" y="4690872"/>
            <a:ext cx="110642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26496" y="4736592"/>
            <a:ext cx="1069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1.3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5129784"/>
            <a:ext cx="877824" cy="393192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08975" y="5175504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Yr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5129784"/>
            <a:ext cx="877824" cy="393192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23376" y="5175504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5129784"/>
            <a:ext cx="1152144" cy="393192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37776" y="5175504"/>
            <a:ext cx="1115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076"/>
                </a:solidFill>
                <a:latin typeface="Segoe UI"/>
              </a:rPr>
              <a:t>19.7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5129784"/>
            <a:ext cx="1106424" cy="393192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5175504"/>
            <a:ext cx="1069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7.0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5568696"/>
            <a:ext cx="87782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8975" y="5614416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Yr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5568696"/>
            <a:ext cx="87782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6" y="5614416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5568696"/>
            <a:ext cx="115214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7776" y="5614416"/>
            <a:ext cx="1115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076"/>
                </a:solidFill>
                <a:latin typeface="Segoe UI"/>
              </a:rPr>
              <a:t>43.8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89920" y="5568696"/>
            <a:ext cx="110642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26496" y="5614416"/>
            <a:ext cx="1069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15.6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6007608"/>
            <a:ext cx="877824" cy="393192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08975" y="6053328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Yr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6007608"/>
            <a:ext cx="877824" cy="393192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23376" y="6053328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150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6007608"/>
            <a:ext cx="1152144" cy="393192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37776" y="6053328"/>
            <a:ext cx="1115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076"/>
                </a:solidFill>
                <a:latin typeface="Segoe UI"/>
              </a:rPr>
              <a:t>75.3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89920" y="6007608"/>
            <a:ext cx="1106424" cy="393192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26496" y="6053328"/>
            <a:ext cx="1069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27.1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6446520"/>
            <a:ext cx="87782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08975" y="6492240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Yr 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0" y="6446520"/>
            <a:ext cx="87782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23376" y="6492240"/>
            <a:ext cx="8412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200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6446520"/>
            <a:ext cx="115214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37776" y="6492240"/>
            <a:ext cx="1115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076"/>
                </a:solidFill>
                <a:latin typeface="Segoe UI"/>
              </a:rPr>
              <a:t>105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789920" y="6446520"/>
            <a:ext cx="1106424" cy="393192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26496" y="6492240"/>
            <a:ext cx="1069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38.1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640080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6E0"/>
                </a:solidFill>
                <a:latin typeface="Segoe UI"/>
              </a:rPr>
              <a:t>Assumptions: ₹120/swap · 100 swaps/stn/day at maturity · 65% utilisation Year 1
Station payback: 14–17 months · Network IRR: 28–35% over 5 years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9/14</a:t>
            </a:r>
          </a:p>
        </p:txBody>
      </p:sp>
    </p:spTree>
  </p:cSld>
  <p:transition spd="slow" dur="600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Battery Swapping vs. Fast Charging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Swapping wins decisively for high-utilisation commercial fleets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53312"/>
            <a:ext cx="2514600" cy="539496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FF"/>
                </a:solidFill>
                <a:latin typeface="Segoe UI"/>
              </a:rPr>
              <a:t>Parameter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53312"/>
            <a:ext cx="4160520" cy="539496"/>
          </a:xfrm>
          <a:prstGeom prst="rect">
            <a:avLst/>
          </a:prstGeom>
          <a:solidFill>
            <a:srgbClr val="00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4475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076"/>
                </a:solidFill>
                <a:latin typeface="Segoe UI"/>
              </a:rPr>
              <a:t>🔋 Battery Swapping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353312"/>
            <a:ext cx="4160520" cy="539496"/>
          </a:xfrm>
          <a:prstGeom prst="rect">
            <a:avLst/>
          </a:prstGeom>
          <a:solidFill>
            <a:srgbClr val="4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44475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444"/>
                </a:solidFill>
                <a:latin typeface="Segoe UI"/>
              </a:rPr>
              <a:t>⚡ DC Fast Charging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47672"/>
            <a:ext cx="2514600" cy="539496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3911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Time at station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947672"/>
            <a:ext cx="4160520" cy="539496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03911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F5D8"/>
                </a:solidFill>
                <a:latin typeface="Segoe UI"/>
              </a:rPr>
              <a:t>&lt; 90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947672"/>
            <a:ext cx="4160520" cy="539496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03911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45–60 minutes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42032"/>
            <a:ext cx="2514600" cy="539496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63347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Productivity lost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542032"/>
            <a:ext cx="4160520" cy="539496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63347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F5D8"/>
                </a:solidFill>
                <a:latin typeface="Segoe UI"/>
              </a:rPr>
              <a:t>~0%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542032"/>
            <a:ext cx="4160520" cy="539496"/>
          </a:xfrm>
          <a:prstGeom prst="rect">
            <a:avLst/>
          </a:prstGeom>
          <a:solidFill>
            <a:srgbClr val="4A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63347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15–25% per shift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36392"/>
            <a:ext cx="2514600" cy="539496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22783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Install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136392"/>
            <a:ext cx="4160520" cy="539496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322783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F5D8"/>
                </a:solidFill>
                <a:latin typeface="Segoe UI"/>
              </a:rPr>
              <a:t>₹20–31 Lakh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3136392"/>
            <a:ext cx="4160520" cy="539496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22783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₹50–80 Lakh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30752"/>
            <a:ext cx="2514600" cy="539496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822191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Land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730752"/>
            <a:ext cx="4160520" cy="539496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82219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F5D8"/>
                </a:solidFill>
                <a:latin typeface="Segoe UI"/>
              </a:rPr>
              <a:t>60–100 sq 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730752"/>
            <a:ext cx="4160520" cy="539496"/>
          </a:xfrm>
          <a:prstGeom prst="rect">
            <a:avLst/>
          </a:prstGeom>
          <a:solidFill>
            <a:srgbClr val="4A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382219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200–400 sq 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25112"/>
            <a:ext cx="2514600" cy="539496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41655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Battery risk owner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325112"/>
            <a:ext cx="4160520" cy="539496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441655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F5D8"/>
                </a:solidFill>
                <a:latin typeface="Segoe UI"/>
              </a:rPr>
              <a:t>Operator (BSaaS)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4325112"/>
            <a:ext cx="4160520" cy="539496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441655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Rider / fleet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919472"/>
            <a:ext cx="2514600" cy="539496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01091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Grid peak impact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4919472"/>
            <a:ext cx="4160520" cy="539496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501091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F5D8"/>
                </a:solidFill>
                <a:latin typeface="Segoe UI"/>
              </a:rPr>
              <a:t>Minimal (off-peak charge)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4919472"/>
            <a:ext cx="4160520" cy="539496"/>
          </a:xfrm>
          <a:prstGeom prst="rect">
            <a:avLst/>
          </a:prstGeom>
          <a:solidFill>
            <a:srgbClr val="4A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5010912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High (simultaneous)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513831"/>
            <a:ext cx="2514600" cy="539496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605271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Best for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5513831"/>
            <a:ext cx="4160520" cy="539496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560527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F5D8"/>
                </a:solidFill>
                <a:latin typeface="Segoe UI"/>
              </a:rPr>
              <a:t>Commercial 2W/3W fleet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5513831"/>
            <a:ext cx="4160520" cy="539496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0" y="560527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4W + highway corridors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108192"/>
            <a:ext cx="2514600" cy="539496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199631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Revenue model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6108192"/>
            <a:ext cx="4160520" cy="539496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0" y="619963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3F5D8"/>
                </a:solidFill>
                <a:latin typeface="Segoe UI"/>
              </a:rPr>
              <a:t>Swap fee + subscription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40880" y="6108192"/>
            <a:ext cx="4160520" cy="539496"/>
          </a:xfrm>
          <a:prstGeom prst="rect">
            <a:avLst/>
          </a:prstGeom>
          <a:solidFill>
            <a:srgbClr val="4A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0" y="6199631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Per kWh / per minute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10/14</a:t>
            </a:r>
          </a:p>
        </p:txBody>
      </p:sp>
    </p:spTree>
  </p:cSld>
  <p:transition spd="slow" dur="600">
    <p:push dir="l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Industry Trends &amp; Tailwinds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Five converging forces building the BSaaS wave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91440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64008" cy="914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2704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8FF"/>
                </a:solidFill>
                <a:latin typeface="Segoe UI"/>
              </a:rPr>
              <a:t>📈 EV Penetration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27048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Segoe UI"/>
              </a:rPr>
              <a:t>3W at 55%+ electrification; 2W at 5.5% accelerating (VAHAN / SMEV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41448"/>
            <a:ext cx="11612880" cy="914400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441448"/>
            <a:ext cx="64008" cy="91440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55117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E076"/>
                </a:solidFill>
                <a:latin typeface="Segoe UI"/>
              </a:rPr>
              <a:t>🚛 Fleet Electrification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5117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Segoe UI"/>
              </a:rPr>
              <a:t>Zomato, Swiggy, Amazon, Flipkart → 100% EV fleets by 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65576"/>
            <a:ext cx="11612880" cy="91440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465576"/>
            <a:ext cx="64008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57530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C107"/>
                </a:solidFill>
                <a:latin typeface="Segoe UI"/>
              </a:rPr>
              <a:t>🏛 Policy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575304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Segoe UI"/>
              </a:rPr>
              <a:t>PM E-DRIVE ₹10,900 Cr; FAME II successor; BIS IS 17893 open standard mandate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89704"/>
            <a:ext cx="11612880" cy="914400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489704"/>
            <a:ext cx="64008" cy="914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5994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8FF"/>
                </a:solidFill>
                <a:latin typeface="Segoe UI"/>
              </a:rPr>
              <a:t>⚙ Technology Advances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599432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Segoe UI"/>
              </a:rPr>
              <a:t>LFP at USD 90/kWh (−41% since 2022); AI health extends pack life 15–20%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513832"/>
            <a:ext cx="11612880" cy="91440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513832"/>
            <a:ext cx="64008" cy="91440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623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E076"/>
                </a:solidFill>
                <a:latin typeface="Segoe UI"/>
              </a:rPr>
              <a:t>🌐 Open Standards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62356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Segoe UI"/>
              </a:rPr>
              <a:t>NITI Aayog 2022 draft mandates interoperability; cross-OEM swapping viable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11/14</a:t>
            </a:r>
          </a:p>
        </p:txBody>
      </p:sp>
    </p:spTree>
  </p:cSld>
  <p:transition spd="slow" dur="600">
    <p:fade/>
  </p:transition>
  <p:clrMapOvr>
    <a:masterClrMapping/>
  </p:clrMapOvr>
  <p:timing>
    <p:tnLst>
      <p:par>
        <p:cTn id="1" dur="indefinite" restart="whenNotActive" nodeType="tmRoot">
          <p:childTnLst>
            <p:par>
              <p:cTn fill="hold">
                <p:stCondLst>
                  <p:cond delay="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14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28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42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56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Key Challenges &amp; Risk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Risk-aware execution with proactive hedges built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77724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64008" cy="7772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Battery Std.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81912"/>
            <a:ext cx="1097280" cy="38404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F2E"/>
                </a:solidFill>
                <a:latin typeface="Segoe U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Adopt IS 17893 early; modular connector adapters; lobby SMEV/IESA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11612880" cy="777240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64008" cy="7772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423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OEM 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450592"/>
            <a:ext cx="1097280" cy="38404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46888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F2E"/>
                </a:solidFill>
                <a:latin typeface="Segoe UI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Open standard prevents flip; fleet SaaS contracts create switching costs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54680"/>
            <a:ext cx="11612880" cy="77724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154680"/>
            <a:ext cx="64008" cy="7772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291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CapEx-Heavy Ramp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319272"/>
            <a:ext cx="109728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3375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F2E"/>
                </a:solidFill>
                <a:latin typeface="Segoe UI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Phase-gated: fleet LOI before station; PM E-DRIVE subsidy capture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23359"/>
            <a:ext cx="11612880" cy="777240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023359"/>
            <a:ext cx="64008" cy="7772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160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Fast-Charge 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187951"/>
            <a:ext cx="109728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420624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F2E"/>
                </a:solidFill>
                <a:latin typeface="Segoe UI"/>
              </a:rPr>
              <a:t>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160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Fleet focus (uptime &gt; speed); cost advantage holds at 15-min charge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92040"/>
            <a:ext cx="11612880" cy="77724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892040"/>
            <a:ext cx="64008" cy="7772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5029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Grid Tariff Rise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5056631"/>
            <a:ext cx="109728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50749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F2E"/>
                </a:solidFill>
                <a:latin typeface="Segoe UI"/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029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Solar target: 30% self-generation; time-of-use charge optimisation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760720"/>
            <a:ext cx="11612880" cy="777240"/>
          </a:xfrm>
          <a:prstGeom prst="rect">
            <a:avLst/>
          </a:prstGeom>
          <a:solidFill>
            <a:srgbClr val="07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760720"/>
            <a:ext cx="64008" cy="77724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5897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Regulatory Shift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5925312"/>
            <a:ext cx="1097280" cy="384048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594360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F2E"/>
                </a:solidFill>
                <a:latin typeface="Segoe UI"/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897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Unit economics viable without subsidy; SaaS revenue not regulated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12/14</a:t>
            </a:r>
          </a:p>
        </p:txBody>
      </p:sp>
    </p:spTree>
  </p:cSld>
  <p:transition spd="slow" dur="600">
    <p:push dir="l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Proposed Improved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FF"/>
                </a:solidFill>
                <a:latin typeface="Segoe UI"/>
              </a:rPr>
              <a:t>Five enhancements that build a defensible technology platform</a:t>
            </a:r>
          </a:p>
        </p:txBody>
      </p:sp>
      <p:pic>
        <p:nvPicPr>
          <p:cNvPr id="6" name="Picture 5" descr="solar_swap_station_17721182788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0"/>
            <a:ext cx="356616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1417320"/>
            <a:ext cx="7955279" cy="91440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64008" cy="914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Segoe UI"/>
              </a:rPr>
              <a:t>🔗 Open Battery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IS 17893 compliance; universal connectors; multi-OEM interoperability → network effects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41448"/>
            <a:ext cx="7955279" cy="91440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441448"/>
            <a:ext cx="64008" cy="91440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3288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6"/>
                </a:solidFill>
                <a:latin typeface="Segoe UI"/>
              </a:rPr>
              <a:t>🤖 AI Battery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ML on BMS telemetry; predict degradation 30-60 days ahead; extend life 15–20%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65576"/>
            <a:ext cx="7955279" cy="91440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465576"/>
            <a:ext cx="64008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5701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  <a:latin typeface="Segoe UI"/>
              </a:rPr>
              <a:t>☀ Solar Microstations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95928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2–4 kWp solar + 5–10 kWh BESS; 30% self-generation; saves ₹25–35K/station/year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9704"/>
            <a:ext cx="7955279" cy="91440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489704"/>
            <a:ext cx="64008" cy="914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8114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Segoe UI"/>
              </a:rPr>
              <a:t>💡 Dynamic 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0056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₹100 off-peak / ₹140 peak; smooth demand curves; fleet subscribers get flat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13832"/>
            <a:ext cx="7955279" cy="914400"/>
          </a:xfrm>
          <a:prstGeom prst="rect">
            <a:avLst/>
          </a:prstGeom>
          <a:solidFill>
            <a:srgbClr val="07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513832"/>
            <a:ext cx="64008" cy="91440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0527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6"/>
                </a:solidFill>
                <a:latin typeface="Segoe UI"/>
              </a:rPr>
              <a:t>📡 Fleet Analytics SaaS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4418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Segoe UI"/>
              </a:rPr>
              <a:t>Driver scoring, ESG reports, predictive maintenance — high-margin sticky revenue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13/14</a:t>
            </a:r>
          </a:p>
        </p:txBody>
      </p:sp>
    </p:spTree>
  </p:cSld>
  <p:transition spd="slow" dur="600">
    <p:fade/>
  </p:transition>
  <p:clrMapOvr>
    <a:masterClrMapping/>
  </p:clrMapOvr>
  <p:timing>
    <p:tnLst>
      <p:par>
        <p:cTn id="1" dur="indefinite" restart="whenNotActive" nodeType="tmRoot">
          <p:childTnLst>
            <p:par>
              <p:cTn fill="hold">
                <p:stCondLst>
                  <p:cond delay="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12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24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36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48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6400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_swap_station_hero_17721181774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4773168" cy="6858000"/>
          </a:xfrm>
          <a:prstGeom prst="rect">
            <a:avLst/>
          </a:prstGeom>
          <a:solidFill>
            <a:srgbClr val="03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274320"/>
            <a:ext cx="7132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Conclusion &amp;
Strategic Recommendation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371600"/>
            <a:ext cx="704088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508760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Segoe UI"/>
              </a:rPr>
              <a:t>▸  India's EV infrastructure gap is the market — BSaaS is a direct, proven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95144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Segoe UI"/>
              </a:rPr>
              <a:t>▸  Fleet-first MVP: 3 → 15 → 50 → 100 stations; committed volumes de-risk CapEx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81528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Segoe UI"/>
              </a:rPr>
              <a:t>▸  ₹43.8 Cr annual revenue at 100 stations · EBITDA ~35% · Payback 14–17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867912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Segoe UI"/>
              </a:rPr>
              <a:t>▸  Five differentiators: IS 17893 Open Standard · AI Health · Solar · Dynamic Pricing ·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654296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Segoe UI"/>
              </a:rPr>
              <a:t>▸  Defensible moat: data network effects + OEM-agnostic platform + fleet contract lock-in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440679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E076"/>
                </a:solidFill>
                <a:latin typeface="Segoe UI"/>
              </a:rPr>
              <a:t>▸  Next steps: seed round → 3-station pilot → fleet LOI → BIS certification → tech build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6400800"/>
            <a:ext cx="7040880" cy="292608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6419088"/>
            <a:ext cx="7004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CD6E0"/>
                </a:solidFill>
                <a:latin typeface="Segoe UI"/>
              </a:rPr>
              <a:t>Sources: VAHAN 2024 · BNEF 2024 · NITI Aayog 2022/23 · BEE 2024 · CEA 2023 · IESA 2023 · SMEV 2024 · CEEW 2023 · Gogoro AR 2024 · Battery Smart 2023 · BIS IS17893 · Zomato ESG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662940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Segoe UI"/>
              </a:rPr>
              <a:t>EV Battery Swapping Station  |  Energy-as-a-Service  •  14/14</a:t>
            </a:r>
          </a:p>
        </p:txBody>
      </p:sp>
    </p:spTree>
  </p:cSld>
  <p:transition spd="slow" dur="600">
    <p:fade/>
  </p:transition>
  <p:clrMapOvr>
    <a:masterClrMapping/>
  </p:clrMapOvr>
  <p:timing>
    <p:tnLst>
      <p:par>
        <p:cTn id="1" dur="indefinite" restart="whenNotActive" nodeType="tmRoot">
          <p:childTnLst>
            <p:par>
              <p:cTn fill="hold">
                <p:stCondLst>
                  <p:cond delay="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15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3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45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60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fill="hold">
                <p:stCondLst>
                  <p:cond delay="750"/>
                </p:stCondLst>
                <p:childTnLst>
                  <p:par>
                    <p:cTn fill="hold">
                      <p:stCondLst>
                        <p:cond delay="0"/>
                      </p:stCondLst>
                      <p:childTnLst>
                        <p:par>
                          <p:cTn presetID="2" presetClass="entr" presetSubtype="4" fill="hold" grpId="0" nodeType="clickEffect" dur="50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/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