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4864" cy="54864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365760"/>
            <a:ext cx="54864" cy="54864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1463040"/>
            <a:ext cx="54864" cy="54864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640080"/>
            <a:ext cx="54864" cy="54864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54864" cy="54864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0" y="1828800"/>
            <a:ext cx="54864" cy="54864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54864" cy="54864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2743200"/>
            <a:ext cx="54864" cy="54864"/>
          </a:xfrm>
          <a:prstGeom prst="rect">
            <a:avLst/>
          </a:prstGeom>
          <a:solidFill>
            <a:srgbClr val="3D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2194560" cy="34747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1664208"/>
            <a:ext cx="21579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dirty="0">
                <a:solidFill>
                  <a:srgbClr val="1A5CD8"/>
                </a:solidFill>
              </a:rPr>
              <a:t>WEEK 4  ·  </a:t>
            </a:r>
            <a:r>
              <a:rPr lang="en-US" sz="800" b="1" i="0" dirty="0">
                <a:solidFill>
                  <a:srgbClr val="1A5CD8"/>
                </a:solidFill>
              </a:rPr>
              <a:t>Activity</a:t>
            </a:r>
            <a:endParaRPr sz="800" b="1" i="0" dirty="0">
              <a:solidFill>
                <a:srgbClr val="1A5CD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0" y="210312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03A"/>
                </a:solidFill>
              </a:rPr>
              <a:t>DBpedia Association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34640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A5CD8"/>
                </a:solidFill>
              </a:rPr>
              <a:t>Organizational Intelligence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584448"/>
            <a:ext cx="5029200" cy="36576"/>
          </a:xfrm>
          <a:prstGeom prst="rect">
            <a:avLst/>
          </a:prstGeom>
          <a:solidFill>
            <a:srgbClr val="C5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373075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D4A6B"/>
                </a:solidFill>
              </a:rPr>
              <a:t>A Web Scraping &amp; Data Analysis 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343400"/>
            <a:ext cx="201168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0" y="4407408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5CD8"/>
                </a:solidFill>
              </a:rP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04748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D4A6B"/>
                </a:solidFill>
              </a:rPr>
              <a:t>Members
Scraped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343400"/>
            <a:ext cx="201168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407408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5CD8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4748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D4A6B"/>
                </a:solidFill>
              </a:rPr>
              <a:t>Blog
Updates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343400"/>
            <a:ext cx="201168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4407408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5CD8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04748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D4A6B"/>
                </a:solidFill>
              </a:rPr>
              <a:t>Clean
CSV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9893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BB0"/>
                </a:solidFill>
              </a:rPr>
              <a:t>[Your Name]  ·  Aptitude 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dbpedia.org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10972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DC8FF"/>
                </a:solidFill>
              </a:rPr>
              <a:t>Linked Open Data · Knowledge Graphs · Semantic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11987784" cy="36576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CD8"/>
                </a:solidFill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03A"/>
                </a:solidFill>
              </a:rPr>
              <a:t>Presentation 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6565392"/>
            <a:ext cx="11987784" cy="292608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8BB0"/>
                </a:solidFill>
              </a:rPr>
              <a:t>DBpedia Association  ·  Organizational Intelligence Project  · 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6692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02920" cy="2331720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CD8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03A"/>
                </a:solidFill>
              </a:rPr>
              <a:t>🔍  Research Methodology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1993391"/>
            <a:ext cx="4114800" cy="2743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</a:rPr>
              <a:t>How we ethically identified and scraped DBpedia using Python (Requests + BeautifulSoup).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25880"/>
            <a:ext cx="56692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325880"/>
            <a:ext cx="502920" cy="2331720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CD8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03A"/>
                </a:solidFill>
              </a:rPr>
              <a:t>🗃️  Data Categorization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1993391"/>
            <a:ext cx="4114800" cy="2743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214884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</a:rPr>
              <a:t>25 verified members classified into Academia, Technology, Institutions &amp; Startups.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86200"/>
            <a:ext cx="56692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886200"/>
            <a:ext cx="502920" cy="2331720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754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CD8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03A"/>
                </a:solidFill>
              </a:rPr>
              <a:t>💡  Knowledge Insights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553712"/>
            <a:ext cx="4114800" cy="2743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70916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</a:rPr>
              <a:t>Live blog &amp; community update feed extracted from the DBpedia knowledge hub.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886200"/>
            <a:ext cx="56692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3886200"/>
            <a:ext cx="502920" cy="2331720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754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CD8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03A"/>
                </a:solidFill>
              </a:rPr>
              <a:t>📈  Strategic Value &amp; ROI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4553712"/>
            <a:ext cx="4114800" cy="2743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470916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</a:rPr>
              <a:t>The tangible business impact of automated data collection for intelligence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11987784" cy="36576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AA"/>
                </a:solidFill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03A"/>
                </a:solidFill>
              </a:rPr>
              <a:t>Research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6565392"/>
            <a:ext cx="11987784" cy="292608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8BB0"/>
                </a:solidFill>
              </a:rPr>
              <a:t>DBpedia Association  ·  Organizational Intelligence Project  · 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2651760"/>
            <a:ext cx="164592" cy="164592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74320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2743200" cy="47548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3624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9202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3A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03A"/>
                </a:solidFill>
              </a:rPr>
              <a:t>Target
Identification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218688"/>
            <a:ext cx="2103120" cy="2743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33756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D4A6B"/>
                </a:solidFill>
              </a:rPr>
              <a:t>Selected DBpedia.org as the primary authoritative source for association member data and knowledge updates.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651760"/>
            <a:ext cx="164592" cy="164592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29000" y="1325880"/>
            <a:ext cx="274320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29000" y="1325880"/>
            <a:ext cx="2743200" cy="47548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13624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9202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3A"/>
                </a:solidFill>
              </a:rPr>
              <a:t>🕷️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5786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03A"/>
                </a:solidFill>
              </a:rPr>
              <a:t>Web
Scraping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218688"/>
            <a:ext cx="2103120" cy="2743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0" y="333756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D4A6B"/>
                </a:solidFill>
              </a:rPr>
              <a:t>Built a Python scraper using Requests for HTTP and BeautifulSoup for HTML parsing of member profiles.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16568" y="2651760"/>
            <a:ext cx="164592" cy="164592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1325880"/>
            <a:ext cx="274320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1325880"/>
            <a:ext cx="2743200" cy="47548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13624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9202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3A"/>
                </a:solidFill>
              </a:rP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5786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03A"/>
                </a:solidFill>
              </a:rPr>
              <a:t>Data
Cleaning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218688"/>
            <a:ext cx="2103120" cy="2743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333756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D4A6B"/>
                </a:solidFill>
              </a:rPr>
              <a:t>Stripped all hyperlinks, HTML tags, and noise. Output structured, link-free plain-text CSVs.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1325880"/>
            <a:ext cx="274320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81160" y="1325880"/>
            <a:ext cx="2743200" cy="47548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13624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19202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3A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5786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03A"/>
                </a:solidFill>
              </a:rPr>
              <a:t>Report
Generation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3218688"/>
            <a:ext cx="2103120" cy="2743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333756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D4A6B"/>
                </a:solidFill>
              </a:rPr>
              <a:t>Produced two clean datasets: members report (25 orgs) and a knowledge updates feed (blog posts).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11987784" cy="36576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CD8"/>
                </a:solidFill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03A"/>
                </a:solidFill>
              </a:rPr>
              <a:t>Member Categorization  —  25 Organizations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6565392"/>
            <a:ext cx="11987784" cy="292608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8BB0"/>
                </a:solidFill>
              </a:rPr>
              <a:t>DBpedia Association  ·  Organizational Intelligence Project  · 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278892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298448"/>
            <a:ext cx="2788920" cy="512064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335024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🎓  Academia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883664"/>
            <a:ext cx="1051560" cy="34747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1892807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CD8"/>
                </a:solidFill>
              </a:rPr>
              <a:t>6 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331720"/>
            <a:ext cx="64008" cy="640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30428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Anhalt University of Applied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07208"/>
            <a:ext cx="64008" cy="640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7797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HTWK Leipzig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282696"/>
            <a:ext cx="64008" cy="640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25526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Poznan University of Econ. &amp; Business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758183"/>
            <a:ext cx="64008" cy="640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73075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University of Mannheim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233672"/>
            <a:ext cx="64008" cy="640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UPM – Technical Univ. of Madrid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09160"/>
            <a:ext cx="64008" cy="640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68172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Network Institute, VU Amsterdam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298448"/>
            <a:ext cx="278892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83280" y="1298448"/>
            <a:ext cx="2788920" cy="512064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0" y="1335024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💻  Technology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883664"/>
            <a:ext cx="1051560" cy="34747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60" y="1892807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AA"/>
                </a:solidFill>
              </a:rPr>
              <a:t>11 Members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331720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03320" y="230428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Diffbot Technologies Corp.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2807208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03320" y="27797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eccenca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282696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03320" y="325526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eTerra 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3758183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03320" y="373075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OpenLink Software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4233672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03320" y="420624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WordLift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709160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03320" y="468172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SZTAKI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5184648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03320" y="515721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Triply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5660136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03320" y="563270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Devexe Limited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6135624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03320" y="610819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I2G (Business Info Sys.)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6611112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03320" y="6583679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metamatter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7086600"/>
            <a:ext cx="64008" cy="64008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03320" y="705916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DALICC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1298448"/>
            <a:ext cx="278892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55080" y="1298448"/>
            <a:ext cx="2788920" cy="512064"/>
          </a:xfrm>
          <a:prstGeom prst="rect">
            <a:avLst/>
          </a:prstGeom>
          <a:solidFill>
            <a:srgbClr val="6A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46520" y="1335024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🏛️  Institutions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23760" y="1883664"/>
            <a:ext cx="1051560" cy="34747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23760" y="1892807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A3FC8"/>
                </a:solidFill>
              </a:rPr>
              <a:t>5 Members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2331720"/>
            <a:ext cx="64008" cy="64008"/>
          </a:xfrm>
          <a:prstGeom prst="rect">
            <a:avLst/>
          </a:prstGeom>
          <a:solidFill>
            <a:srgbClr val="6A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75120" y="230428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KB – National Library of the Netherlands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60" y="2807208"/>
            <a:ext cx="64008" cy="64008"/>
          </a:xfrm>
          <a:prstGeom prst="rect">
            <a:avLst/>
          </a:prstGeom>
          <a:solidFill>
            <a:srgbClr val="6A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0" y="27797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TIB Leibniz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3282696"/>
            <a:ext cx="64008" cy="64008"/>
          </a:xfrm>
          <a:prstGeom prst="rect">
            <a:avLst/>
          </a:prstGeom>
          <a:solidFill>
            <a:srgbClr val="6A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75120" y="325526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FIZ Karlsruhe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7960" y="3758183"/>
            <a:ext cx="64008" cy="64008"/>
          </a:xfrm>
          <a:prstGeom prst="rect">
            <a:avLst/>
          </a:prstGeom>
          <a:solidFill>
            <a:srgbClr val="6A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75120" y="373075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Open Knowledge Greece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60" y="4233672"/>
            <a:ext cx="64008" cy="64008"/>
          </a:xfrm>
          <a:prstGeom prst="rect">
            <a:avLst/>
          </a:prstGeom>
          <a:solidFill>
            <a:srgbClr val="6A3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75120" y="420624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LODI Japan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26880" y="1298448"/>
            <a:ext cx="278892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326880" y="1298448"/>
            <a:ext cx="2788920" cy="5120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18319" y="1335024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🚀  Startups / SMEs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95559" y="1883664"/>
            <a:ext cx="1051560" cy="34747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95559" y="1892807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800"/>
                </a:solidFill>
              </a:rPr>
              <a:t>3 Members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59" y="2331720"/>
            <a:ext cx="64008" cy="6400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646919" y="230428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GNOSS / RIAM Intelearning Lab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09759" y="2807208"/>
            <a:ext cx="64008" cy="6400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646919" y="27797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ImageSnippets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09759" y="3282696"/>
            <a:ext cx="64008" cy="6400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46919" y="325526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A6B"/>
                </a:solidFill>
              </a:rPr>
              <a:t>Business Information Systems Inst.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4556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8BB0"/>
                </a:solidFill>
              </a:rPr>
              <a:t>📂  Data source: dbpedia_members_report.csv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11987784" cy="36576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AA"/>
                </a:solidFill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03A"/>
                </a:solidFill>
              </a:rPr>
              <a:t>Community Knowledge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6565392"/>
            <a:ext cx="11987784" cy="292608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8BB0"/>
                </a:solidFill>
              </a:rPr>
              <a:t>DBpedia Association  ·  Organizational Intelligence Project  · 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72768"/>
            <a:ext cx="164592" cy="164592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" y="1737360"/>
            <a:ext cx="45720" cy="9144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1335024"/>
            <a:ext cx="10698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1335024"/>
            <a:ext cx="1280160" cy="89611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1581912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CD8"/>
                </a:solidFill>
              </a:rPr>
              <a:t>Feb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3898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3A"/>
                </a:solidFill>
              </a:rPr>
              <a:t>DBpedia Databus 2.0 — Infrastructure Upgrade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755648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New pipeline reduces SPARQL query latency by 40%. Endpoint reliability improved across all chapters.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15183"/>
            <a:ext cx="164592" cy="164592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6676" y="2779775"/>
            <a:ext cx="45720" cy="9144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2377439"/>
            <a:ext cx="10698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3000" y="2377439"/>
            <a:ext cx="1280160" cy="89611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61288" y="2624327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CD8"/>
                </a:solidFill>
              </a:rPr>
              <a:t>Jan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432303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3A"/>
                </a:solidFill>
              </a:rPr>
              <a:t>Knowledge Graph Conference 2025 — Call for Papers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798063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DBpedia co-organises KGC 2025. Association members invited to submit research and case studies.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57599"/>
            <a:ext cx="164592" cy="164592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6676" y="3822191"/>
            <a:ext cx="45720" cy="9144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43000" y="3419856"/>
            <a:ext cx="10698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43000" y="3419856"/>
            <a:ext cx="1280160" cy="89611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61288" y="3666744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CD8"/>
                </a:solidFill>
              </a:rPr>
              <a:t>Dec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4747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3A"/>
                </a:solidFill>
              </a:rPr>
              <a:t>Wikidata–DBpedia Alignment Sprint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840479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Cross-community hackathon aligning 3M+ DBpedia concepts with Wikidata IRIs for broader interoperability.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700016"/>
            <a:ext cx="164592" cy="164592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6676" y="4864608"/>
            <a:ext cx="45720" cy="9144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43000" y="4462272"/>
            <a:ext cx="10698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43000" y="4462272"/>
            <a:ext cx="1280160" cy="89611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61288" y="4709159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CD8"/>
                </a:solidFill>
              </a:rPr>
              <a:t>Nov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51713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3A"/>
                </a:solidFill>
              </a:rPr>
              <a:t>DBpedia Spotlight v2 Released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882896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Named-entity annotation model retrained on the 2024 Wikipedia dump — 12% accuracy improvement.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742431"/>
            <a:ext cx="164592" cy="164592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3000" y="5504688"/>
            <a:ext cx="10698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143000" y="5504688"/>
            <a:ext cx="1280160" cy="89611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61288" y="5751575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CD8"/>
                </a:solidFill>
              </a:rPr>
              <a:t>Oct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559551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3A"/>
                </a:solidFill>
              </a:rPr>
              <a:t>Global Chapters Expansion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925312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New Japanese and Greek chapters onboarded, growing the local Linked Open Data (LOD) ecosystem.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556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8BB0"/>
                </a:solidFill>
              </a:rPr>
              <a:t>📂  Data source: dbpedia_knowledge_updates.csv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11987784" cy="36576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800"/>
                </a:solidFill>
              </a:rP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03A"/>
                </a:solidFill>
              </a:rPr>
              <a:t>Strategic Value &amp; ROI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6565392"/>
            <a:ext cx="11987784" cy="292608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8BB0"/>
                </a:solidFill>
              </a:rPr>
              <a:t>DBpedia Association  ·  Organizational Intelligence Project  · 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00" cy="1170432"/>
          </a:xfrm>
          <a:prstGeom prst="rect">
            <a:avLst/>
          </a:prstGeom>
          <a:solidFill>
            <a:srgbClr val="FFFFFF"/>
          </a:solidFill>
          <a:ln w="1397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94360" cy="117043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1848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03A"/>
                </a:solidFill>
              </a:rP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40817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3A"/>
                </a:solidFill>
              </a:rPr>
              <a:t>Time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810512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Automated scraping replaces hours of manual data collection across 25+ organization profiles in seconds.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15184"/>
            <a:ext cx="6400800" cy="1170432"/>
          </a:xfrm>
          <a:prstGeom prst="rect">
            <a:avLst/>
          </a:prstGeom>
          <a:solidFill>
            <a:srgbClr val="FFFFFF"/>
          </a:solidFill>
          <a:ln w="1397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615184"/>
            <a:ext cx="594360" cy="117043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3522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03A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2491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3A"/>
                </a:solidFill>
              </a:rPr>
              <a:t>Repeatable &amp;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27248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Re-run the script anytime to capture fresh member additions, membership tier changes, or new blog posts.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6400800" cy="1170432"/>
          </a:xfrm>
          <a:prstGeom prst="rect">
            <a:avLst/>
          </a:prstGeom>
          <a:solidFill>
            <a:srgbClr val="FFFFFF"/>
          </a:solidFill>
          <a:ln w="1397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931920"/>
            <a:ext cx="594360" cy="117043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25195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03A"/>
                </a:solidFill>
              </a:rPr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416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3A"/>
                </a:solidFill>
              </a:rPr>
              <a:t>Plug-and-Play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443983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Clean CSVs integrate directly into CRMs, BI dashboards, research databases, or ML pipelines.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48656"/>
            <a:ext cx="6400800" cy="1170432"/>
          </a:xfrm>
          <a:prstGeom prst="rect">
            <a:avLst/>
          </a:prstGeom>
          <a:solidFill>
            <a:srgbClr val="FFFFFF"/>
          </a:solidFill>
          <a:ln w="1397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5248656"/>
            <a:ext cx="594360" cy="1170432"/>
          </a:xfrm>
          <a:prstGeom prst="rect">
            <a:avLst/>
          </a:prstGeom>
          <a:solidFill>
            <a:srgbClr val="E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568696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03A"/>
                </a:solidFill>
              </a:rPr>
              <a:t>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5838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3A"/>
                </a:solidFill>
              </a:rPr>
              <a:t>Scalable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60720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</a:rPr>
              <a:t>Script is modular — extend to scrape additional DBpedia sub-pages, chapters, or partner organizations.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1298448"/>
            <a:ext cx="4480560" cy="521208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43800" y="146304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2029968"/>
            <a:ext cx="4023360" cy="27432"/>
          </a:xfrm>
          <a:prstGeom prst="rect">
            <a:avLst/>
          </a:prstGeom>
          <a:solidFill>
            <a:srgbClr val="4D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43800" y="2176272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25 members fully documented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743200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4 categories of organizations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310128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100% link-free, clean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877056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2 structured CSV deliverables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443983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Ethical scraping practices followed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5010912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Reusable, well-commented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5577840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Completed within Week 4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16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33132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 dirty="0">
                <a:solidFill>
                  <a:srgbClr val="1A203A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798916"/>
            <a:ext cx="5788152" cy="4572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334923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D4A6B"/>
                </a:solidFill>
              </a:rPr>
              <a:t>Questions, feedback, and discussion are most welcome.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410712"/>
            <a:ext cx="7068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6263640"/>
            <a:ext cx="11987784" cy="50292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327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BB0"/>
                </a:solidFill>
              </a:rPr>
              <a:t>📂  Deliverables:  dbpedia_scraper.py  ·  dbpedia_members_report.csv  ·  dbpedia_knowledge_updates.csv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673</Words>
  <Application>Microsoft Office PowerPoint</Application>
  <PresentationFormat>Custom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Sharan Kulal</cp:lastModifiedBy>
  <cp:revision>3</cp:revision>
  <dcterms:created xsi:type="dcterms:W3CDTF">2013-01-27T09:14:16Z</dcterms:created>
  <dcterms:modified xsi:type="dcterms:W3CDTF">2026-03-10T20:14:12Z</dcterms:modified>
  <cp:category/>
</cp:coreProperties>
</file>